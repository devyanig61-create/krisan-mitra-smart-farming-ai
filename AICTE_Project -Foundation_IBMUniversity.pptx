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33EC85-8362-9A44-18C3-6182EB5FF853}" v="290" dt="2026-07-09T16:56:34.884"/>
  </p1510:revLst>
</p1510:revInfo>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devyanig61-create/Krisan-Mitra-Smart-Farming-AI.git"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1059375614"/>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2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2000" u="none" strike="noStrike" cap="none"/>
                        <a:t>DEVYANI VILAS GAWADE</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2000" u="none" strike="noStrike" cap="none"/>
                        <a:t>devyanig61@gmail.com</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2000" u="none" strike="noStrike" cap="none"/>
                        <a:t>8623902053</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r>
              <a:rPr lang="en-US" sz="2400" b="1" i="0" u="none" strike="noStrike" cap="none">
                <a:solidFill>
                  <a:srgbClr val="000000"/>
                </a:solidFill>
                <a:latin typeface="Arial"/>
                <a:ea typeface="Arial"/>
                <a:cs typeface="Arial"/>
                <a:sym typeface="Arial"/>
              </a:rPr>
              <a:t>Domain of  Project – </a:t>
            </a:r>
            <a:r>
              <a:rPr lang="en-US" sz="2400" b="1" i="0" u="none" strike="noStrike" cap="none">
                <a:solidFill>
                  <a:srgbClr val="000000"/>
                </a:solidFill>
                <a:highlight>
                  <a:srgbClr val="FFFF00"/>
                </a:highlight>
                <a:latin typeface="Arial"/>
                <a:ea typeface="Arial"/>
                <a:cs typeface="Arial"/>
                <a:sym typeface="Arial"/>
              </a:rPr>
              <a:t>[ Agriculture</a:t>
            </a:r>
            <a:r>
              <a:rPr lang="en-US" sz="2400" b="1">
                <a:highlight>
                  <a:srgbClr val="FFFF00"/>
                </a:highlight>
              </a:rPr>
              <a:t>] </a:t>
            </a:r>
            <a:endParaRPr sz="2400" b="1" i="0" u="none" strike="noStrike" cap="none">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461624"/>
          </a:xfrm>
          <a:prstGeom prst="rect">
            <a:avLst/>
          </a:prstGeom>
          <a:noFill/>
          <a:ln>
            <a:noFill/>
          </a:ln>
        </p:spPr>
        <p:txBody>
          <a:bodyPr spcFirstLastPara="1" wrap="square" lIns="91425" tIns="45700" rIns="91425" bIns="45700" anchor="t" anchorCtr="0">
            <a:spAutoFit/>
          </a:bodyPr>
          <a:lstStyle/>
          <a:p>
            <a:r>
              <a:rPr lang="en-US" sz="2400" b="1" i="0" u="none" strike="noStrike" cap="none" dirty="0">
                <a:solidFill>
                  <a:srgbClr val="000000"/>
                </a:solidFill>
                <a:latin typeface="Arial"/>
                <a:ea typeface="Arial"/>
                <a:cs typeface="Arial"/>
                <a:sym typeface="Arial"/>
              </a:rPr>
              <a:t>Project Tile – </a:t>
            </a:r>
            <a:r>
              <a:rPr lang="en-US" sz="2400" b="1" i="0" u="none" strike="noStrike" cap="none">
                <a:solidFill>
                  <a:srgbClr val="000000"/>
                </a:solidFill>
                <a:highlight>
                  <a:srgbClr val="FFFF00"/>
                </a:highlight>
                <a:latin typeface="Arial"/>
                <a:ea typeface="Arial"/>
                <a:cs typeface="Arial"/>
                <a:sym typeface="Arial"/>
              </a:rPr>
              <a:t>[</a:t>
            </a:r>
            <a:r>
              <a:rPr lang="en-US" sz="2400">
                <a:highlight>
                  <a:srgbClr val="FFFF00"/>
                </a:highlight>
                <a:ea typeface="Times New Roman"/>
                <a:sym typeface="Times New Roman"/>
              </a:rPr>
              <a:t>AI Agent for Smart Farming Advice]</a:t>
            </a:r>
            <a:endParaRPr lang="en-US" sz="2400" b="1" i="0" u="none" strike="noStrike" cap="none">
              <a:solidFill>
                <a:srgbClr val="000000"/>
              </a:solidFill>
              <a:highlight>
                <a:srgbClr val="FFFF00"/>
              </a:highlight>
              <a:latin typeface="Arial"/>
              <a:ea typeface="Arial"/>
              <a:cs typeface="Arial"/>
            </a:endParaRPr>
          </a:p>
        </p:txBody>
      </p:sp>
      <p:pic>
        <p:nvPicPr>
          <p:cNvPr id="2" name="Picture 1">
            <a:extLst>
              <a:ext uri="{FF2B5EF4-FFF2-40B4-BE49-F238E27FC236}">
                <a16:creationId xmlns:a16="http://schemas.microsoft.com/office/drawing/2014/main" id="{9AD5666A-B3E7-C693-4C10-117EAB0E0E40}"/>
              </a:ext>
            </a:extLst>
          </p:cNvPr>
          <p:cNvPicPr>
            <a:picLocks noChangeAspect="1"/>
          </p:cNvPicPr>
          <p:nvPr/>
        </p:nvPicPr>
        <p:blipFill>
          <a:blip r:embed="rId3"/>
          <a:stretch>
            <a:fillRect/>
          </a:stretch>
        </p:blipFill>
        <p:spPr>
          <a:xfrm>
            <a:off x="4018391" y="3577771"/>
            <a:ext cx="918536" cy="11901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34440"/>
            <a:ext cx="10607040" cy="5478382"/>
          </a:xfrm>
          <a:prstGeom prst="rect">
            <a:avLst/>
          </a:prstGeom>
          <a:noFill/>
          <a:ln>
            <a:noFill/>
          </a:ln>
        </p:spPr>
        <p:txBody>
          <a:bodyPr spcFirstLastPara="1" wrap="square" lIns="91425" tIns="45700" rIns="91425" bIns="45700" anchor="t" anchorCtr="0">
            <a:spAutoFit/>
          </a:bodyPr>
          <a:lstStyle/>
          <a:p>
            <a:r>
              <a:rPr lang="en-US" sz="1400" b="1" i="0" u="none" strike="noStrike" cap="none">
                <a:solidFill>
                  <a:srgbClr val="000000"/>
                </a:solidFill>
                <a:latin typeface="Arial"/>
                <a:ea typeface="Arial"/>
                <a:cs typeface="Arial"/>
                <a:sym typeface="Arial"/>
              </a:rPr>
              <a:t>Problem Statement : </a:t>
            </a:r>
            <a:r>
              <a:rPr lang="en-US"/>
              <a:t>AI Agent for Smart Farming Advice</a:t>
            </a:r>
            <a:endParaRPr lang="en-US" sz="1400" i="0" u="none" strike="noStrike" cap="none">
              <a:solidFill>
                <a:srgbClr val="000000"/>
              </a:solidFill>
              <a:latin typeface="Arial"/>
              <a:ea typeface="Arial"/>
              <a:cs typeface="Arial"/>
            </a:endParaRPr>
          </a:p>
          <a:p>
            <a:endParaRPr lang="en-US" dirty="0"/>
          </a:p>
          <a:p>
            <a:r>
              <a:rPr lang="en-US" b="1">
                <a:sym typeface="Arial"/>
              </a:rPr>
              <a:t>The </a:t>
            </a:r>
            <a:r>
              <a:rPr lang="en-US" b="1"/>
              <a:t>Challenge</a:t>
            </a:r>
            <a:endParaRPr lang="en-US"/>
          </a:p>
          <a:p>
            <a:r>
              <a:rPr lang="en-US"/>
              <a:t>Small-scale farmers often struggle to access reliable and timely agricultural information. They need guidance on crop selection, weather forecasts, soil conditions, pest management, fertilizer usage, and market prices. Existing information is scattered across multiple sources and is often unavailable in local languages, making it difficult for farmers to make informed decisions.</a:t>
            </a:r>
          </a:p>
          <a:p>
            <a:r>
              <a:rPr lang="en-US" b="1"/>
              <a:t>The Objective</a:t>
            </a:r>
            <a:endParaRPr lang="en-US"/>
          </a:p>
          <a:p>
            <a:r>
              <a:rPr lang="en-US"/>
              <a:t>Develop an AI-powered Smart Farming Advice Agent using </a:t>
            </a:r>
            <a:r>
              <a:rPr lang="en-US" b="1"/>
              <a:t>IBM Granite Models</a:t>
            </a:r>
            <a:r>
              <a:rPr lang="en-US" sz="1400" b="1" i="0" u="none" strike="noStrike" cap="none">
                <a:solidFill>
                  <a:srgbClr val="000000"/>
                </a:solidFill>
                <a:latin typeface="Arial"/>
                <a:ea typeface="Arial"/>
                <a:cs typeface="Arial"/>
                <a:sym typeface="Arial"/>
              </a:rPr>
              <a:t>, </a:t>
            </a:r>
            <a:r>
              <a:rPr lang="en-US" b="1"/>
              <a:t>IBM Cloud Lite</a:t>
            </a:r>
            <a:r>
              <a:rPr lang="en-US" sz="1400" b="1" i="0" u="none" strike="noStrike" cap="none">
                <a:solidFill>
                  <a:srgbClr val="000000"/>
                </a:solidFill>
                <a:latin typeface="Arial"/>
                <a:ea typeface="Arial"/>
                <a:cs typeface="Arial"/>
                <a:sym typeface="Arial"/>
              </a:rPr>
              <a:t>, and </a:t>
            </a:r>
            <a:r>
              <a:rPr lang="en-US" b="1"/>
              <a:t>Retrieval-Augmented Generation (RAG)</a:t>
            </a:r>
            <a:r>
              <a:rPr lang="en-US"/>
              <a:t> that provides </a:t>
            </a:r>
            <a:r>
              <a:rPr lang="en-US" sz="1400" i="0" u="none" strike="noStrike" cap="none">
                <a:solidFill>
                  <a:srgbClr val="000000"/>
                </a:solidFill>
                <a:latin typeface="Arial"/>
                <a:ea typeface="Arial"/>
                <a:cs typeface="Arial"/>
                <a:sym typeface="Arial"/>
              </a:rPr>
              <a:t>personalized, real-time </a:t>
            </a:r>
            <a:r>
              <a:rPr lang="en-US"/>
              <a:t>agricultural assistance</a:t>
            </a:r>
            <a:r>
              <a:rPr lang="en-US" sz="1400" b="0" i="0" u="none" strike="noStrike" cap="none">
                <a:solidFill>
                  <a:srgbClr val="000000"/>
                </a:solidFill>
                <a:latin typeface="Arial"/>
                <a:ea typeface="Arial"/>
                <a:cs typeface="Arial"/>
                <a:sym typeface="Arial"/>
              </a:rPr>
              <a:t>.</a:t>
            </a:r>
            <a:endParaRPr/>
          </a:p>
          <a:p>
            <a:pPr lvl="0" algn="l">
              <a:lnSpc>
                <a:spcPct val="100000"/>
              </a:lnSpc>
              <a:spcBef>
                <a:spcPts val="0"/>
              </a:spcBef>
              <a:spcAft>
                <a:spcPts val="0"/>
              </a:spcAft>
              <a:buNone/>
            </a:pPr>
            <a:r>
              <a:rPr lang="en-US" sz="1400" i="0" u="none" strike="noStrike" cap="none">
                <a:solidFill>
                  <a:srgbClr val="000000"/>
                </a:solidFill>
                <a:latin typeface="Arial"/>
                <a:ea typeface="Arial"/>
                <a:cs typeface="Arial"/>
                <a:sym typeface="Arial"/>
              </a:rPr>
              <a:t>The </a:t>
            </a:r>
            <a:r>
              <a:rPr lang="en-US" sz="1400" b="0" i="0" u="none" strike="noStrike" cap="none">
                <a:solidFill>
                  <a:srgbClr val="000000"/>
                </a:solidFill>
                <a:latin typeface="Arial"/>
                <a:ea typeface="Arial"/>
                <a:cs typeface="Arial"/>
                <a:sym typeface="Arial"/>
              </a:rPr>
              <a:t>solution should:</a:t>
            </a:r>
            <a:endParaRPr/>
          </a:p>
          <a:p>
            <a:pPr marL="285750" indent="-285750">
              <a:buFont typeface="Arial"/>
              <a:buChar char="•"/>
            </a:pPr>
            <a:r>
              <a:rPr lang="en-US" sz="1400" b="0" i="0" u="none" strike="noStrike" cap="none">
                <a:solidFill>
                  <a:srgbClr val="000000"/>
                </a:solidFill>
                <a:latin typeface="Arial"/>
                <a:ea typeface="Arial"/>
                <a:cs typeface="Arial"/>
                <a:sym typeface="Arial"/>
              </a:rPr>
              <a:t>Recommend </a:t>
            </a:r>
            <a:r>
              <a:rPr lang="en-US"/>
              <a:t>suitable crops </a:t>
            </a:r>
            <a:r>
              <a:rPr lang="en-US" sz="1400" b="0" i="0" u="none" strike="noStrike" cap="none">
                <a:solidFill>
                  <a:srgbClr val="000000"/>
                </a:solidFill>
                <a:latin typeface="Arial"/>
                <a:ea typeface="Arial"/>
                <a:cs typeface="Arial"/>
                <a:sym typeface="Arial"/>
              </a:rPr>
              <a:t>based on </a:t>
            </a:r>
            <a:r>
              <a:rPr lang="en-US"/>
              <a:t>season and soil type. </a:t>
            </a:r>
          </a:p>
          <a:p>
            <a:pPr marL="285750" indent="-285750">
              <a:buFont typeface="Arial"/>
              <a:buChar char="•"/>
            </a:pPr>
            <a:r>
              <a:rPr lang="en-US"/>
              <a:t>Provide real-time weather forecasts. </a:t>
            </a:r>
          </a:p>
          <a:p>
            <a:pPr marL="285750" indent="-285750">
              <a:buFont typeface="Arial"/>
              <a:buChar char="•"/>
            </a:pPr>
            <a:r>
              <a:rPr lang="en-US"/>
              <a:t>Suggest pest </a:t>
            </a:r>
            <a:r>
              <a:rPr lang="en-US" sz="1400" b="0" i="0" u="none" strike="noStrike" cap="none">
                <a:solidFill>
                  <a:srgbClr val="000000"/>
                </a:solidFill>
                <a:latin typeface="Arial"/>
                <a:ea typeface="Arial"/>
                <a:cs typeface="Arial"/>
                <a:sym typeface="Arial"/>
              </a:rPr>
              <a:t>and </a:t>
            </a:r>
            <a:r>
              <a:rPr lang="en-US"/>
              <a:t>disease control measures</a:t>
            </a:r>
            <a:r>
              <a:rPr lang="en-US" sz="1400" b="0" i="0" u="none" strike="noStrike" cap="none">
                <a:solidFill>
                  <a:srgbClr val="000000"/>
                </a:solidFill>
                <a:latin typeface="Arial"/>
                <a:ea typeface="Arial"/>
                <a:cs typeface="Arial"/>
                <a:sym typeface="Arial"/>
              </a:rPr>
              <a:t>.</a:t>
            </a:r>
            <a:r>
              <a:rPr lang="en-US"/>
              <a:t> </a:t>
            </a:r>
            <a:endParaRPr/>
          </a:p>
          <a:p>
            <a:pPr marL="285750" indent="-285750">
              <a:buFont typeface="Arial"/>
              <a:buChar char="•"/>
            </a:pPr>
            <a:r>
              <a:rPr lang="en-US"/>
              <a:t>Recommend fertilizers </a:t>
            </a:r>
            <a:r>
              <a:rPr lang="en-US" sz="1400" b="0" i="0" u="none" strike="noStrike" cap="none">
                <a:solidFill>
                  <a:srgbClr val="000000"/>
                </a:solidFill>
                <a:latin typeface="Arial"/>
                <a:ea typeface="Arial"/>
                <a:cs typeface="Arial"/>
                <a:sym typeface="Arial"/>
              </a:rPr>
              <a:t>and </a:t>
            </a:r>
            <a:r>
              <a:rPr lang="en-US"/>
              <a:t>irrigation schedules. </a:t>
            </a:r>
          </a:p>
          <a:p>
            <a:pPr marL="285750" indent="-285750">
              <a:buFont typeface="Arial"/>
              <a:buChar char="•"/>
            </a:pPr>
            <a:r>
              <a:rPr lang="en-US"/>
              <a:t>Display current mandi </a:t>
            </a:r>
            <a:r>
              <a:rPr lang="en-US" sz="1400" b="0" i="0" u="none" strike="noStrike" cap="none">
                <a:solidFill>
                  <a:srgbClr val="000000"/>
                </a:solidFill>
                <a:latin typeface="Arial"/>
                <a:ea typeface="Arial"/>
                <a:cs typeface="Arial"/>
                <a:sym typeface="Arial"/>
              </a:rPr>
              <a:t>(</a:t>
            </a:r>
            <a:r>
              <a:rPr lang="en-US"/>
              <a:t>market</a:t>
            </a:r>
            <a:r>
              <a:rPr lang="en-US" sz="1400" b="0" i="0" u="none" strike="noStrike" cap="none">
                <a:solidFill>
                  <a:srgbClr val="000000"/>
                </a:solidFill>
                <a:latin typeface="Arial"/>
                <a:ea typeface="Arial"/>
                <a:cs typeface="Arial"/>
                <a:sym typeface="Arial"/>
              </a:rPr>
              <a:t>) </a:t>
            </a:r>
            <a:r>
              <a:rPr lang="en-US"/>
              <a:t>prices</a:t>
            </a:r>
            <a:r>
              <a:rPr lang="en-US" sz="1400" b="0" i="0" u="none" strike="noStrike" cap="none">
                <a:solidFill>
                  <a:srgbClr val="000000"/>
                </a:solidFill>
                <a:latin typeface="Arial"/>
                <a:ea typeface="Arial"/>
                <a:cs typeface="Arial"/>
                <a:sym typeface="Arial"/>
              </a:rPr>
              <a:t>.</a:t>
            </a:r>
            <a:r>
              <a:rPr lang="en-US"/>
              <a:t> </a:t>
            </a:r>
            <a:endParaRPr/>
          </a:p>
          <a:p>
            <a:pPr marL="285750" indent="-285750">
              <a:buFont typeface="Arial"/>
              <a:buChar char="•"/>
            </a:pPr>
            <a:r>
              <a:rPr lang="en-US"/>
              <a:t>Support multilingual conversations</a:t>
            </a:r>
            <a:r>
              <a:rPr lang="en-US" sz="1400" b="0" i="0" u="none" strike="noStrike" cap="none">
                <a:solidFill>
                  <a:srgbClr val="000000"/>
                </a:solidFill>
                <a:latin typeface="Arial"/>
                <a:ea typeface="Arial"/>
                <a:cs typeface="Arial"/>
                <a:sym typeface="Arial"/>
              </a:rPr>
              <a:t>.</a:t>
            </a:r>
            <a:r>
              <a:rPr lang="en-US"/>
              <a:t> </a:t>
            </a:r>
            <a:endParaRPr/>
          </a:p>
          <a:p>
            <a:pPr marL="285750" indent="-285750">
              <a:buFont typeface="Arial"/>
              <a:buChar char="•"/>
            </a:pPr>
            <a:r>
              <a:rPr lang="en-US"/>
              <a:t>Deliver trusted information using Retrieval-Augmented Generation </a:t>
            </a:r>
            <a:r>
              <a:rPr lang="en-US" sz="1400" b="0" i="0" u="none" strike="noStrike" cap="none">
                <a:solidFill>
                  <a:srgbClr val="000000"/>
                </a:solidFill>
                <a:latin typeface="Arial"/>
                <a:ea typeface="Arial"/>
                <a:cs typeface="Arial"/>
                <a:sym typeface="Arial"/>
              </a:rPr>
              <a:t>(</a:t>
            </a:r>
            <a:r>
              <a:rPr lang="en-US"/>
              <a:t>RAG</a:t>
            </a:r>
            <a:r>
              <a:rPr lang="en-US" sz="1400" b="0" i="0" u="none" strike="noStrike" cap="none">
                <a:solidFill>
                  <a:srgbClr val="000000"/>
                </a:solidFill>
                <a:latin typeface="Arial"/>
                <a:ea typeface="Arial"/>
                <a:cs typeface="Arial"/>
                <a:sym typeface="Arial"/>
              </a:rPr>
              <a:t>).</a:t>
            </a:r>
            <a:r>
              <a:rPr lang="en-US"/>
              <a:t> </a:t>
            </a:r>
            <a:endParaRPr/>
          </a:p>
          <a:p>
            <a:pPr lvl="0" algn="l">
              <a:lnSpc>
                <a:spcPct val="100000"/>
              </a:lnSpc>
              <a:spcBef>
                <a:spcPts val="0"/>
              </a:spcBef>
              <a:spcAft>
                <a:spcPts val="0"/>
              </a:spcAft>
            </a:pPr>
            <a:r>
              <a:rPr lang="en-US" b="1">
                <a:sym typeface="Arial"/>
              </a:rPr>
              <a:t>Multi-Agent System</a:t>
            </a:r>
            <a:endParaRPr/>
          </a:p>
          <a:p>
            <a:pPr marL="285750" indent="-285750">
              <a:buFont typeface="Arial"/>
              <a:buChar char="•"/>
            </a:pPr>
            <a:r>
              <a:rPr lang="en-US"/>
              <a:t>Crop </a:t>
            </a:r>
            <a:r>
              <a:rPr lang="en-US" sz="1400" i="0" u="none" strike="noStrike" cap="none">
                <a:solidFill>
                  <a:srgbClr val="000000"/>
                </a:solidFill>
                <a:latin typeface="Arial"/>
                <a:ea typeface="Arial"/>
                <a:cs typeface="Arial"/>
                <a:sym typeface="Arial"/>
              </a:rPr>
              <a:t>Recommendation Agent</a:t>
            </a:r>
            <a:r>
              <a:rPr lang="en-US"/>
              <a:t> </a:t>
            </a:r>
            <a:endParaRPr/>
          </a:p>
          <a:p>
            <a:pPr marL="285750" indent="-285750">
              <a:buFont typeface="Arial"/>
              <a:buChar char="•"/>
            </a:pPr>
            <a:r>
              <a:rPr lang="en-US"/>
              <a:t>Weather </a:t>
            </a:r>
            <a:r>
              <a:rPr lang="en-US" sz="1400" i="0" u="none" strike="noStrike" cap="none">
                <a:solidFill>
                  <a:srgbClr val="000000"/>
                </a:solidFill>
                <a:latin typeface="Arial"/>
                <a:ea typeface="Arial"/>
                <a:cs typeface="Arial"/>
                <a:sym typeface="Arial"/>
              </a:rPr>
              <a:t>Advisory Agent</a:t>
            </a:r>
            <a:r>
              <a:rPr lang="en-US"/>
              <a:t> </a:t>
            </a:r>
          </a:p>
          <a:p>
            <a:pPr marL="285750" indent="-285750">
              <a:buFont typeface="Arial"/>
              <a:buChar char="•"/>
            </a:pPr>
            <a:r>
              <a:rPr lang="en-US"/>
              <a:t>Soil Analysis Agent </a:t>
            </a:r>
            <a:endParaRPr/>
          </a:p>
          <a:p>
            <a:pPr marL="285750" indent="-285750">
              <a:buFont typeface="Arial"/>
              <a:buChar char="•"/>
            </a:pPr>
            <a:r>
              <a:rPr lang="en-US"/>
              <a:t>Pest </a:t>
            </a:r>
            <a:r>
              <a:rPr lang="en-US" sz="1400" i="0" u="none" strike="noStrike" cap="none">
                <a:solidFill>
                  <a:srgbClr val="000000"/>
                </a:solidFill>
                <a:latin typeface="Arial"/>
                <a:ea typeface="Arial"/>
                <a:cs typeface="Arial"/>
                <a:sym typeface="Arial"/>
              </a:rPr>
              <a:t>&amp; </a:t>
            </a:r>
            <a:r>
              <a:rPr lang="en-US"/>
              <a:t>Disease Management Agent </a:t>
            </a:r>
          </a:p>
          <a:p>
            <a:pPr marL="285750" indent="-285750">
              <a:buFont typeface="Arial"/>
              <a:buChar char="•"/>
            </a:pPr>
            <a:r>
              <a:rPr lang="en-US"/>
              <a:t>Market Price Information </a:t>
            </a:r>
            <a:r>
              <a:rPr lang="en-US" sz="1400" i="0" u="none" strike="noStrike" cap="none">
                <a:solidFill>
                  <a:srgbClr val="000000"/>
                </a:solidFill>
                <a:latin typeface="Arial"/>
                <a:ea typeface="Arial"/>
                <a:cs typeface="Arial"/>
                <a:sym typeface="Arial"/>
              </a:rPr>
              <a:t>Agent</a:t>
            </a:r>
            <a:endParaRPr lang="en-US"/>
          </a:p>
          <a:p>
            <a:pPr marL="0" marR="0" lvl="0" indent="0" algn="l">
              <a:lnSpc>
                <a:spcPct val="100000"/>
              </a:lnSpc>
              <a:spcBef>
                <a:spcPts val="0"/>
              </a:spcBef>
              <a:spcAft>
                <a:spcPts val="0"/>
              </a:spcAft>
              <a:buNone/>
            </a:pPr>
            <a:endParaRPr lang="en-US" sz="1400" b="1" i="0" u="none" strike="noStrike" cap="none" dirty="0">
              <a:solidFill>
                <a:srgbClr val="000000"/>
              </a:solidFill>
              <a:latin typeface="Arial"/>
              <a:ea typeface="Arial"/>
              <a:cs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1168656"/>
            <a:ext cx="10607040" cy="41857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a:solidFill>
                <a:srgbClr val="000000"/>
              </a:solidFill>
              <a:latin typeface="Arial"/>
              <a:ea typeface="Arial"/>
              <a:cs typeface="Arial"/>
              <a:sym typeface="Arial"/>
            </a:endParaRPr>
          </a:p>
          <a:p>
            <a:r>
              <a:rPr lang="en-US" dirty="0">
                <a:sym typeface="Arial"/>
              </a:rPr>
              <a:t>Proposed Solution</a:t>
            </a:r>
            <a:r>
              <a:rPr lang="en-US" dirty="0"/>
              <a:t> – </a:t>
            </a:r>
            <a:r>
              <a:rPr lang="en-US" dirty="0" err="1"/>
              <a:t>KisanMitra</a:t>
            </a:r>
            <a:endParaRPr/>
          </a:p>
          <a:p>
            <a:r>
              <a:rPr lang="en-US" b="0" i="0" u="none" strike="noStrike" cap="none">
                <a:solidFill>
                  <a:srgbClr val="000000"/>
                </a:solidFill>
                <a:latin typeface="Arial"/>
                <a:ea typeface="Arial"/>
                <a:cs typeface="Arial"/>
                <a:sym typeface="Arial"/>
              </a:rPr>
              <a:t>The proposed solution is </a:t>
            </a:r>
            <a:r>
              <a:rPr lang="en-US"/>
              <a:t>an AI-powered farming assistant developed </a:t>
            </a:r>
            <a:r>
              <a:rPr lang="en-US" b="0" i="0" u="none" strike="noStrike" cap="none">
                <a:solidFill>
                  <a:srgbClr val="000000"/>
                </a:solidFill>
                <a:latin typeface="Arial"/>
                <a:ea typeface="Arial"/>
                <a:cs typeface="Arial"/>
                <a:sym typeface="Arial"/>
              </a:rPr>
              <a:t>using </a:t>
            </a:r>
            <a:r>
              <a:rPr lang="en-US" b="1"/>
              <a:t>IBM BOB, IBM Granite Models</a:t>
            </a:r>
            <a:r>
              <a:rPr lang="en-US" b="1" i="0" u="none" strike="noStrike" cap="none">
                <a:solidFill>
                  <a:srgbClr val="000000"/>
                </a:solidFill>
                <a:latin typeface="Arial"/>
                <a:ea typeface="Arial"/>
                <a:cs typeface="Arial"/>
                <a:sym typeface="Arial"/>
              </a:rPr>
              <a:t>, </a:t>
            </a:r>
            <a:r>
              <a:rPr lang="en-US" b="1"/>
              <a:t>and </a:t>
            </a:r>
            <a:r>
              <a:rPr lang="en-US" b="1" i="0" u="none" strike="noStrike" cap="none">
                <a:solidFill>
                  <a:srgbClr val="000000"/>
                </a:solidFill>
                <a:latin typeface="Arial"/>
                <a:ea typeface="Arial"/>
                <a:cs typeface="Arial"/>
                <a:sym typeface="Arial"/>
              </a:rPr>
              <a:t>IBM </a:t>
            </a:r>
            <a:r>
              <a:rPr lang="en-US" b="1"/>
              <a:t>Cloud Lite</a:t>
            </a:r>
            <a:r>
              <a:rPr lang="en-US"/>
              <a:t>.</a:t>
            </a:r>
            <a:endParaRPr lang="en-US" dirty="0"/>
          </a:p>
          <a:p>
            <a:r>
              <a:rPr lang="en-US"/>
              <a:t>The system enables farmers to ask questions in English</a:t>
            </a:r>
            <a:r>
              <a:rPr lang="en-US" b="0" i="0" u="none" strike="noStrike" cap="none">
                <a:solidFill>
                  <a:srgbClr val="000000"/>
                </a:solidFill>
                <a:latin typeface="Arial"/>
                <a:ea typeface="Arial"/>
                <a:cs typeface="Arial"/>
                <a:sym typeface="Arial"/>
              </a:rPr>
              <a:t>, </a:t>
            </a:r>
            <a:r>
              <a:rPr lang="en-US"/>
              <a:t>Hindi</a:t>
            </a:r>
            <a:r>
              <a:rPr lang="en-US" b="0" i="0" u="none" strike="noStrike" cap="none">
                <a:solidFill>
                  <a:srgbClr val="000000"/>
                </a:solidFill>
                <a:latin typeface="Arial"/>
                <a:ea typeface="Arial"/>
                <a:cs typeface="Arial"/>
                <a:sym typeface="Arial"/>
              </a:rPr>
              <a:t>, </a:t>
            </a:r>
            <a:r>
              <a:rPr lang="en-US"/>
              <a:t>or Marathi and receive personalized farming guidance</a:t>
            </a:r>
            <a:r>
              <a:rPr lang="en-US" b="0" i="0" u="none" strike="noStrike" cap="none">
                <a:solidFill>
                  <a:srgbClr val="000000"/>
                </a:solidFill>
                <a:latin typeface="Arial"/>
                <a:ea typeface="Arial"/>
                <a:cs typeface="Arial"/>
                <a:sym typeface="Arial"/>
              </a:rPr>
              <a:t>.</a:t>
            </a:r>
            <a:endParaRPr/>
          </a:p>
          <a:p>
            <a:r>
              <a:rPr lang="en-US" b="0" i="0" u="none" strike="noStrike" cap="none">
                <a:solidFill>
                  <a:srgbClr val="000000"/>
                </a:solidFill>
                <a:latin typeface="Arial"/>
                <a:ea typeface="Arial"/>
                <a:cs typeface="Arial"/>
                <a:sym typeface="Arial"/>
              </a:rPr>
              <a:t>The system </a:t>
            </a:r>
            <a:r>
              <a:rPr lang="en-US"/>
              <a:t>provides</a:t>
            </a:r>
            <a:r>
              <a:rPr lang="en-US" b="0" i="0" u="none" strike="noStrike" cap="none">
                <a:solidFill>
                  <a:srgbClr val="000000"/>
                </a:solidFill>
                <a:latin typeface="Arial"/>
                <a:ea typeface="Arial"/>
                <a:cs typeface="Arial"/>
                <a:sym typeface="Arial"/>
              </a:rPr>
              <a:t>:</a:t>
            </a:r>
            <a:endParaRPr/>
          </a:p>
          <a:p>
            <a:r>
              <a:rPr lang="en-US"/>
              <a:t>Crop </a:t>
            </a:r>
            <a:r>
              <a:rPr lang="en-US">
                <a:sym typeface="Arial"/>
              </a:rPr>
              <a:t>Recommendation Agent</a:t>
            </a:r>
            <a:endParaRPr lang="en-US" dirty="0"/>
          </a:p>
          <a:p>
            <a:r>
              <a:rPr lang="en-US"/>
              <a:t>Recommends suitable crops</a:t>
            </a:r>
            <a:r>
              <a:rPr lang="en-US" b="0" i="0" u="none" strike="noStrike" cap="none">
                <a:solidFill>
                  <a:srgbClr val="000000"/>
                </a:solidFill>
                <a:latin typeface="Arial"/>
                <a:ea typeface="Arial"/>
                <a:cs typeface="Arial"/>
                <a:sym typeface="Arial"/>
              </a:rPr>
              <a:t> based on </a:t>
            </a:r>
            <a:r>
              <a:rPr lang="en-US"/>
              <a:t>location, season</a:t>
            </a:r>
            <a:r>
              <a:rPr lang="en-US" b="0" i="0" u="none" strike="noStrike" cap="none">
                <a:solidFill>
                  <a:srgbClr val="000000"/>
                </a:solidFill>
                <a:latin typeface="Arial"/>
                <a:ea typeface="Arial"/>
                <a:cs typeface="Arial"/>
                <a:sym typeface="Arial"/>
              </a:rPr>
              <a:t>, and </a:t>
            </a:r>
            <a:r>
              <a:rPr lang="en-US"/>
              <a:t>soil conditions</a:t>
            </a:r>
            <a:r>
              <a:rPr lang="en-US" b="0" i="0" u="none" strike="noStrike" cap="none">
                <a:solidFill>
                  <a:srgbClr val="000000"/>
                </a:solidFill>
                <a:latin typeface="Arial"/>
                <a:ea typeface="Arial"/>
                <a:cs typeface="Arial"/>
                <a:sym typeface="Arial"/>
              </a:rPr>
              <a:t>.</a:t>
            </a:r>
            <a:endParaRPr/>
          </a:p>
          <a:p>
            <a:r>
              <a:rPr lang="en-US"/>
              <a:t>Weather </a:t>
            </a:r>
            <a:r>
              <a:rPr lang="en-US">
                <a:sym typeface="Arial"/>
              </a:rPr>
              <a:t>Advisory Agent</a:t>
            </a:r>
            <a:endParaRPr/>
          </a:p>
          <a:p>
            <a:r>
              <a:rPr lang="en-US"/>
              <a:t>Provides weather forecasts and alerts for farming activities</a:t>
            </a:r>
            <a:r>
              <a:rPr lang="en-US" b="0" i="0" u="none" strike="noStrike" cap="none">
                <a:solidFill>
                  <a:srgbClr val="000000"/>
                </a:solidFill>
                <a:latin typeface="Arial"/>
                <a:ea typeface="Arial"/>
                <a:cs typeface="Arial"/>
                <a:sym typeface="Arial"/>
              </a:rPr>
              <a:t>.</a:t>
            </a:r>
            <a:endParaRPr/>
          </a:p>
          <a:p>
            <a:r>
              <a:rPr lang="en-US"/>
              <a:t>Soil &amp; Fertilizer Agent</a:t>
            </a:r>
            <a:endParaRPr lang="en-US" dirty="0"/>
          </a:p>
          <a:p>
            <a:r>
              <a:rPr lang="en-US"/>
              <a:t>Recommends fertilizers </a:t>
            </a:r>
            <a:r>
              <a:rPr lang="en-US" b="0" i="0" u="none" strike="noStrike" cap="none">
                <a:solidFill>
                  <a:srgbClr val="000000"/>
                </a:solidFill>
                <a:latin typeface="Arial"/>
                <a:ea typeface="Arial"/>
                <a:cs typeface="Arial"/>
                <a:sym typeface="Arial"/>
              </a:rPr>
              <a:t>and nutrient </a:t>
            </a:r>
            <a:r>
              <a:rPr lang="en-US"/>
              <a:t>management practices</a:t>
            </a:r>
            <a:r>
              <a:rPr lang="en-US" b="0" i="0" u="none" strike="noStrike" cap="none">
                <a:solidFill>
                  <a:srgbClr val="000000"/>
                </a:solidFill>
                <a:latin typeface="Arial"/>
                <a:ea typeface="Arial"/>
                <a:cs typeface="Arial"/>
                <a:sym typeface="Arial"/>
              </a:rPr>
              <a:t>.</a:t>
            </a:r>
            <a:endParaRPr/>
          </a:p>
          <a:p>
            <a:r>
              <a:rPr lang="en-US"/>
              <a:t>Pest Management Agent</a:t>
            </a:r>
            <a:endParaRPr lang="en-US" dirty="0"/>
          </a:p>
          <a:p>
            <a:r>
              <a:rPr lang="en-US"/>
              <a:t>Identifies pests </a:t>
            </a:r>
            <a:r>
              <a:rPr lang="en-US" b="0" i="0" u="none" strike="noStrike" cap="none">
                <a:solidFill>
                  <a:srgbClr val="000000"/>
                </a:solidFill>
                <a:latin typeface="Arial"/>
                <a:ea typeface="Arial"/>
                <a:cs typeface="Arial"/>
                <a:sym typeface="Arial"/>
              </a:rPr>
              <a:t>and </a:t>
            </a:r>
            <a:r>
              <a:rPr lang="en-US"/>
              <a:t>diseases </a:t>
            </a:r>
            <a:r>
              <a:rPr lang="en-US" b="0" i="0" u="none" strike="noStrike" cap="none">
                <a:solidFill>
                  <a:srgbClr val="000000"/>
                </a:solidFill>
                <a:latin typeface="Arial"/>
                <a:ea typeface="Arial"/>
                <a:cs typeface="Arial"/>
                <a:sym typeface="Arial"/>
              </a:rPr>
              <a:t>and </a:t>
            </a:r>
            <a:r>
              <a:rPr lang="en-US"/>
              <a:t>suggests preventive measures</a:t>
            </a:r>
            <a:r>
              <a:rPr lang="en-US" b="0" i="0" u="none" strike="noStrike" cap="none">
                <a:solidFill>
                  <a:srgbClr val="000000"/>
                </a:solidFill>
                <a:latin typeface="Arial"/>
                <a:ea typeface="Arial"/>
                <a:cs typeface="Arial"/>
                <a:sym typeface="Arial"/>
              </a:rPr>
              <a:t>.</a:t>
            </a:r>
            <a:endParaRPr/>
          </a:p>
          <a:p>
            <a:r>
              <a:rPr lang="en-US"/>
              <a:t>Market Price Agent</a:t>
            </a:r>
            <a:endParaRPr lang="en-US" dirty="0"/>
          </a:p>
          <a:p>
            <a:r>
              <a:rPr lang="en-US"/>
              <a:t>Retrieves current mandi prices and market trends.</a:t>
            </a:r>
            <a:endParaRPr lang="en-US" dirty="0"/>
          </a:p>
          <a:p>
            <a:r>
              <a:rPr lang="en-US"/>
              <a:t>The solution acts as an intelligent digital farming advisor </a:t>
            </a:r>
            <a:r>
              <a:rPr lang="en-US" b="0" i="0" u="none" strike="noStrike" cap="none">
                <a:solidFill>
                  <a:srgbClr val="000000"/>
                </a:solidFill>
                <a:latin typeface="Arial"/>
                <a:ea typeface="Arial"/>
                <a:cs typeface="Arial"/>
                <a:sym typeface="Arial"/>
              </a:rPr>
              <a:t>and </a:t>
            </a:r>
            <a:r>
              <a:rPr lang="en-US"/>
              <a:t>assists farmers in making data-driven decisions</a:t>
            </a:r>
            <a:r>
              <a:rPr lang="en-US" b="0" i="0" u="none" strike="noStrike" cap="none">
                <a:solidFill>
                  <a:srgbClr val="000000"/>
                </a:solidFill>
                <a:latin typeface="Arial"/>
                <a:ea typeface="Arial"/>
                <a:cs typeface="Arial"/>
                <a:sym typeface="Arial"/>
              </a:rPr>
              <a:t>.</a:t>
            </a:r>
            <a:endParaRPr lang="en-US" dirty="0"/>
          </a:p>
          <a:p>
            <a:endParaRPr lang="en-US" dirty="0"/>
          </a:p>
          <a:p>
            <a:pPr marL="0" marR="0" lvl="0" indent="0" algn="l">
              <a:lnSpc>
                <a:spcPct val="100000"/>
              </a:lnSpc>
              <a:spcBef>
                <a:spcPts val="0"/>
              </a:spcBef>
              <a:spcAft>
                <a:spcPts val="0"/>
              </a:spcAft>
              <a:buNone/>
            </a:pPr>
            <a:endParaRPr lang="en-US" sz="1400" b="1" i="0" u="none" strike="noStrike" cap="none" dirty="0">
              <a:solidFill>
                <a:srgbClr val="000000"/>
              </a:solidFill>
              <a:latin typeface="Arial"/>
              <a:ea typeface="Arial"/>
              <a:cs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2" name="Google Shape;102;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08" name="Google Shape;108;p36"/>
          <p:cNvSpPr txBox="1"/>
          <p:nvPr/>
        </p:nvSpPr>
        <p:spPr>
          <a:xfrm>
            <a:off x="777240" y="1207008"/>
            <a:ext cx="10515600" cy="5509200"/>
          </a:xfrm>
          <a:prstGeom prst="rect">
            <a:avLst/>
          </a:prstGeom>
          <a:noFill/>
          <a:ln>
            <a:noFill/>
          </a:ln>
        </p:spPr>
        <p:txBody>
          <a:bodyPr spcFirstLastPara="1" wrap="square" lIns="91425" tIns="45700" rIns="91425" bIns="45700" anchor="t" anchorCtr="0">
            <a:spAutoFit/>
          </a:bodyPr>
          <a:lstStyle/>
          <a:p>
            <a:pPr>
              <a:buSzPts val="1800"/>
              <a:buFont typeface="Arial"/>
              <a:buChar char="•"/>
            </a:pPr>
            <a:r>
              <a:rPr lang="en-US"/>
              <a:t>IBM BOB</a:t>
            </a:r>
          </a:p>
          <a:p>
            <a:pPr>
              <a:buSzPts val="1800"/>
              <a:buFont typeface="Arial"/>
              <a:buChar char="•"/>
            </a:pPr>
            <a:r>
              <a:rPr lang="en-US" sz="1800"/>
              <a:t>Used to generate the complete full-stack application including frontend, backend, APIs, </a:t>
            </a:r>
            <a:r>
              <a:rPr lang="en-US" sz="1800" b="0" i="0" u="none" strike="noStrike" cap="none">
                <a:solidFill>
                  <a:srgbClr val="000000"/>
                </a:solidFill>
                <a:latin typeface="Arial"/>
                <a:ea typeface="Arial"/>
                <a:cs typeface="Arial"/>
                <a:sym typeface="Arial"/>
              </a:rPr>
              <a:t>and </a:t>
            </a:r>
            <a:r>
              <a:rPr lang="en-US" sz="1800"/>
              <a:t>deployment files.</a:t>
            </a:r>
            <a:endParaRPr/>
          </a:p>
          <a:p>
            <a:pPr>
              <a:buSzPts val="1800"/>
              <a:buChar char="•"/>
            </a:pPr>
            <a:r>
              <a:rPr lang="en-US"/>
              <a:t>IBM Granite Model</a:t>
            </a:r>
            <a:endParaRPr/>
          </a:p>
          <a:p>
            <a:pPr lvl="0" algn="l">
              <a:lnSpc>
                <a:spcPct val="100000"/>
              </a:lnSpc>
              <a:spcBef>
                <a:spcPts val="0"/>
              </a:spcBef>
              <a:spcAft>
                <a:spcPts val="0"/>
              </a:spcAft>
              <a:buClr>
                <a:srgbClr val="000000"/>
              </a:buClr>
              <a:buSzPts val="1800"/>
              <a:buFont typeface="Arial"/>
              <a:buChar char="•"/>
            </a:pPr>
            <a:r>
              <a:rPr lang="en-US" sz="1800" b="1"/>
              <a:t>Granite-4-h-small</a:t>
            </a:r>
            <a:endParaRPr/>
          </a:p>
          <a:p>
            <a:pPr>
              <a:buSzPts val="1800"/>
              <a:buFont typeface="Arial"/>
              <a:buChar char="•"/>
            </a:pPr>
            <a:r>
              <a:rPr lang="en-US" sz="1800"/>
              <a:t>Used </a:t>
            </a:r>
            <a:r>
              <a:rPr lang="en-US" sz="1800" b="0" i="0" u="none" strike="noStrike" cap="none">
                <a:solidFill>
                  <a:srgbClr val="000000"/>
                </a:solidFill>
                <a:latin typeface="Arial"/>
                <a:ea typeface="Arial"/>
                <a:cs typeface="Arial"/>
                <a:sym typeface="Arial"/>
              </a:rPr>
              <a:t>for</a:t>
            </a:r>
            <a:r>
              <a:rPr lang="en-US" sz="1800"/>
              <a:t>:</a:t>
            </a:r>
            <a:endParaRPr/>
          </a:p>
          <a:p>
            <a:pPr>
              <a:buSzPts val="1800"/>
              <a:buChar char="•"/>
            </a:pPr>
            <a:r>
              <a:rPr lang="en-US" sz="1800"/>
              <a:t>Natural Language Understanding </a:t>
            </a:r>
            <a:endParaRPr lang="en-US"/>
          </a:p>
          <a:p>
            <a:pPr>
              <a:buSzPts val="1800"/>
              <a:buChar char="•"/>
            </a:pPr>
            <a:r>
              <a:rPr lang="en-US" sz="1800"/>
              <a:t>Reasoning </a:t>
            </a:r>
            <a:endParaRPr lang="en-US"/>
          </a:p>
          <a:p>
            <a:pPr>
              <a:buSzPts val="1800"/>
              <a:buChar char="•"/>
            </a:pPr>
            <a:r>
              <a:rPr lang="en-US" sz="1800"/>
              <a:t>Multilingual Conversations </a:t>
            </a:r>
            <a:endParaRPr lang="en-US"/>
          </a:p>
          <a:p>
            <a:pPr>
              <a:buSzPts val="1800"/>
              <a:buChar char="•"/>
            </a:pPr>
            <a:r>
              <a:rPr lang="en-US" sz="1800"/>
              <a:t>Agricultural Recommendations </a:t>
            </a:r>
            <a:endParaRPr/>
          </a:p>
          <a:p>
            <a:pPr>
              <a:buSzPts val="1800"/>
              <a:buFont typeface="Arial"/>
              <a:buChar char="•"/>
            </a:pPr>
            <a:r>
              <a:rPr lang="en-US">
                <a:sym typeface="Arial"/>
              </a:rPr>
              <a:t>IBM Cloud </a:t>
            </a:r>
            <a:r>
              <a:rPr lang="en-US"/>
              <a:t>Lite</a:t>
            </a:r>
          </a:p>
          <a:p>
            <a:pPr>
              <a:buSzPts val="1800"/>
              <a:buFont typeface="Arial"/>
              <a:buChar char="•"/>
            </a:pPr>
            <a:r>
              <a:rPr lang="en-US" sz="1800"/>
              <a:t>Provides secure cloud </a:t>
            </a:r>
            <a:r>
              <a:rPr lang="en-US" sz="1800" b="0" i="0" u="none" strike="noStrike" cap="none">
                <a:solidFill>
                  <a:srgbClr val="000000"/>
                </a:solidFill>
                <a:latin typeface="Arial"/>
                <a:ea typeface="Arial"/>
                <a:cs typeface="Arial"/>
                <a:sym typeface="Arial"/>
              </a:rPr>
              <a:t>infrastructure and </a:t>
            </a:r>
            <a:r>
              <a:rPr lang="en-US" sz="1800"/>
              <a:t>AI services</a:t>
            </a:r>
            <a:r>
              <a:rPr lang="en-US" sz="1800" b="0" i="0" u="none" strike="noStrike" cap="none">
                <a:solidFill>
                  <a:srgbClr val="000000"/>
                </a:solidFill>
                <a:latin typeface="Arial"/>
                <a:ea typeface="Arial"/>
                <a:cs typeface="Arial"/>
                <a:sym typeface="Arial"/>
              </a:rPr>
              <a:t>.</a:t>
            </a:r>
            <a:endParaRPr lang="en-US"/>
          </a:p>
          <a:p>
            <a:pPr>
              <a:buSzPts val="1800"/>
              <a:buFont typeface="Arial"/>
              <a:buChar char="•"/>
            </a:pPr>
            <a:r>
              <a:rPr lang="en-US"/>
              <a:t>Python Flask</a:t>
            </a:r>
          </a:p>
          <a:p>
            <a:pPr>
              <a:buSzPts val="1800"/>
              <a:buFont typeface="Arial"/>
              <a:buChar char="•"/>
            </a:pPr>
            <a:r>
              <a:rPr lang="en-US" sz="1800"/>
              <a:t>Used for backend APIs</a:t>
            </a:r>
            <a:r>
              <a:rPr lang="en-US" sz="1800" i="0" u="none" strike="noStrike" cap="none">
                <a:solidFill>
                  <a:srgbClr val="000000"/>
                </a:solidFill>
                <a:latin typeface="Arial"/>
                <a:ea typeface="Arial"/>
                <a:cs typeface="Arial"/>
                <a:sym typeface="Arial"/>
              </a:rPr>
              <a:t> and </a:t>
            </a:r>
            <a:r>
              <a:rPr lang="en-US" sz="1800"/>
              <a:t>application logic</a:t>
            </a:r>
            <a:r>
              <a:rPr lang="en-US" sz="1800" b="0" i="0" u="none" strike="noStrike" cap="none">
                <a:solidFill>
                  <a:srgbClr val="000000"/>
                </a:solidFill>
                <a:latin typeface="Arial"/>
                <a:ea typeface="Arial"/>
                <a:cs typeface="Arial"/>
                <a:sym typeface="Arial"/>
              </a:rPr>
              <a:t>.</a:t>
            </a:r>
            <a:endParaRPr/>
          </a:p>
          <a:p>
            <a:pPr>
              <a:buSzPts val="1800"/>
              <a:buChar char="•"/>
            </a:pPr>
            <a:r>
              <a:rPr lang="en-US"/>
              <a:t>HTML5, CSS3 and JavaScript</a:t>
            </a:r>
            <a:endParaRPr/>
          </a:p>
          <a:p>
            <a:pPr>
              <a:buSzPts val="1800"/>
              <a:buFont typeface="Arial"/>
              <a:buChar char="•"/>
            </a:pPr>
            <a:r>
              <a:rPr lang="en-US" sz="1800"/>
              <a:t>Used for developing responsive dashboard </a:t>
            </a:r>
            <a:r>
              <a:rPr lang="en-US" sz="1800" b="0" i="0" u="none" strike="noStrike" cap="none">
                <a:solidFill>
                  <a:srgbClr val="000000"/>
                </a:solidFill>
                <a:latin typeface="Arial"/>
                <a:ea typeface="Arial"/>
                <a:cs typeface="Arial"/>
                <a:sym typeface="Arial"/>
              </a:rPr>
              <a:t>and </a:t>
            </a:r>
            <a:r>
              <a:rPr lang="en-US" sz="1800"/>
              <a:t>chatbot interface</a:t>
            </a:r>
            <a:r>
              <a:rPr lang="en-US" sz="1800" b="0" i="0" u="none" strike="noStrike" cap="none">
                <a:solidFill>
                  <a:srgbClr val="000000"/>
                </a:solidFill>
                <a:latin typeface="Arial"/>
                <a:ea typeface="Arial"/>
                <a:cs typeface="Arial"/>
                <a:sym typeface="Arial"/>
              </a:rPr>
              <a:t>.</a:t>
            </a:r>
            <a:endParaRPr/>
          </a:p>
          <a:p>
            <a:pPr>
              <a:buSzPts val="1800"/>
              <a:buChar char="•"/>
            </a:pPr>
            <a:r>
              <a:rPr lang="en-US"/>
              <a:t>Retrieval-Augmented Generation (RAG)</a:t>
            </a:r>
            <a:endParaRPr/>
          </a:p>
          <a:p>
            <a:pPr>
              <a:buSzPts val="1800"/>
              <a:buFont typeface="Arial"/>
              <a:buChar char="•"/>
            </a:pPr>
            <a:r>
              <a:rPr lang="en-US" sz="1800"/>
              <a:t>Retrieves trusted agricultural information before generating responses</a:t>
            </a:r>
            <a:r>
              <a:rPr lang="en-US" sz="1800" i="0" u="none" strike="noStrike" cap="none">
                <a:solidFill>
                  <a:srgbClr val="000000"/>
                </a:solidFill>
                <a:latin typeface="Arial"/>
                <a:ea typeface="Arial"/>
                <a:cs typeface="Arial"/>
                <a:sym typeface="Arial"/>
              </a:rPr>
              <a:t>.</a:t>
            </a:r>
            <a:endParaRPr/>
          </a:p>
          <a:p>
            <a:pPr lvl="0" algn="l">
              <a:lnSpc>
                <a:spcPct val="100000"/>
              </a:lnSpc>
              <a:spcBef>
                <a:spcPts val="0"/>
              </a:spcBef>
              <a:spcAft>
                <a:spcPts val="0"/>
              </a:spcAft>
              <a:buSzPts val="1800"/>
              <a:buFont typeface="Arial"/>
              <a:buChar char="•"/>
            </a:pPr>
            <a:r>
              <a:rPr lang="en-US">
                <a:sym typeface="Arial"/>
              </a:rPr>
              <a:t>Vector Database (FAISS)</a:t>
            </a:r>
            <a:endParaRPr/>
          </a:p>
          <a:p>
            <a:pPr>
              <a:buSzPts val="1800"/>
              <a:buChar char="•"/>
            </a:pPr>
            <a:r>
              <a:rPr lang="en-US" sz="1800"/>
              <a:t>Stores agricultural knowledge and supports semantic search.</a:t>
            </a:r>
            <a:endParaRPr/>
          </a:p>
          <a:p>
            <a:pPr marR="0" lvl="0" algn="l">
              <a:lnSpc>
                <a:spcPct val="100000"/>
              </a:lnSpc>
              <a:spcBef>
                <a:spcPts val="0"/>
              </a:spcBef>
              <a:spcAft>
                <a:spcPts val="0"/>
              </a:spcAft>
              <a:buSzPts val="1800"/>
            </a:pPr>
            <a:endParaRPr lang="en-US" sz="1800" b="0" i="0" u="none" strike="noStrike" cap="none" dirty="0">
              <a:solidFill>
                <a:srgbClr val="000000"/>
              </a:solidFill>
              <a:latin typeface="Arial"/>
              <a:ea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component Used -</a:t>
            </a:r>
            <a:endParaRPr sz="2400" b="1" i="0" u="none" strike="noStrike" cap="none">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2" y="863187"/>
            <a:ext cx="8823960" cy="71095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r>
              <a:rPr lang="en-US" sz="2000">
                <a:sym typeface="Arial"/>
              </a:rPr>
              <a:t>1</a:t>
            </a:r>
            <a:r>
              <a:rPr lang="en-US" sz="2000"/>
              <a:t>. </a:t>
            </a:r>
            <a:r>
              <a:rPr lang="en-US" sz="2000">
                <a:sym typeface="Arial"/>
              </a:rPr>
              <a:t>Chat Input</a:t>
            </a:r>
            <a:endParaRPr sz="2000"/>
          </a:p>
          <a:p>
            <a:r>
              <a:rPr lang="en-US" sz="2000"/>
              <a:t>Allows farmers to ask questions.</a:t>
            </a:r>
            <a:endParaRPr sz="2000"/>
          </a:p>
          <a:p>
            <a:r>
              <a:rPr lang="en-US" sz="2000" dirty="0">
                <a:sym typeface="Arial"/>
              </a:rPr>
              <a:t>2</a:t>
            </a:r>
            <a:r>
              <a:rPr lang="en-US" sz="2000" dirty="0"/>
              <a:t>. </a:t>
            </a:r>
            <a:r>
              <a:rPr lang="en-US" sz="2000" dirty="0">
                <a:sym typeface="Arial"/>
              </a:rPr>
              <a:t>IBM </a:t>
            </a:r>
            <a:r>
              <a:rPr lang="en-US" sz="2000" dirty="0" err="1">
                <a:sym typeface="Arial"/>
              </a:rPr>
              <a:t>watsonx</a:t>
            </a:r>
            <a:r>
              <a:rPr lang="en-US" sz="2000" dirty="0">
                <a:sym typeface="Arial"/>
              </a:rPr>
              <a:t> AI Agent</a:t>
            </a:r>
            <a:endParaRPr lang="en-US" sz="2000" dirty="0"/>
          </a:p>
          <a:p>
            <a:r>
              <a:rPr lang="en-US" sz="2000" b="0" i="0" u="none" strike="noStrike" cap="none">
                <a:solidFill>
                  <a:srgbClr val="000000"/>
                </a:solidFill>
                <a:latin typeface="Arial"/>
                <a:ea typeface="Arial"/>
                <a:cs typeface="Arial"/>
                <a:sym typeface="Arial"/>
              </a:rPr>
              <a:t>Processes </a:t>
            </a:r>
            <a:r>
              <a:rPr lang="en-US" sz="2000"/>
              <a:t>farming queries </a:t>
            </a:r>
            <a:r>
              <a:rPr lang="en-US" sz="2000" b="0" i="0" u="none" strike="noStrike" cap="none">
                <a:solidFill>
                  <a:srgbClr val="000000"/>
                </a:solidFill>
                <a:latin typeface="Arial"/>
                <a:ea typeface="Arial"/>
                <a:cs typeface="Arial"/>
                <a:sym typeface="Arial"/>
              </a:rPr>
              <a:t>using Granite.</a:t>
            </a:r>
            <a:endParaRPr sz="2000"/>
          </a:p>
          <a:p>
            <a:r>
              <a:rPr lang="en-US" sz="2000">
                <a:sym typeface="Arial"/>
              </a:rPr>
              <a:t>3</a:t>
            </a:r>
            <a:r>
              <a:rPr lang="en-US" sz="2000"/>
              <a:t>. </a:t>
            </a:r>
            <a:r>
              <a:rPr lang="en-US" sz="2000">
                <a:sym typeface="Arial"/>
              </a:rPr>
              <a:t>IBM Granite </a:t>
            </a:r>
            <a:r>
              <a:rPr lang="en-US" sz="2000"/>
              <a:t>Model</a:t>
            </a:r>
            <a:endParaRPr sz="2000"/>
          </a:p>
          <a:p>
            <a:pPr lvl="0" algn="l">
              <a:lnSpc>
                <a:spcPct val="100000"/>
              </a:lnSpc>
              <a:spcBef>
                <a:spcPts val="0"/>
              </a:spcBef>
              <a:spcAft>
                <a:spcPts val="0"/>
              </a:spcAft>
              <a:buNone/>
            </a:pPr>
            <a:r>
              <a:rPr lang="en-US" sz="2000"/>
              <a:t>Granite-4-h-small</a:t>
            </a:r>
            <a:endParaRPr sz="2000"/>
          </a:p>
          <a:p>
            <a:r>
              <a:rPr lang="en-US" sz="2000">
                <a:sym typeface="Arial"/>
              </a:rPr>
              <a:t>4. </a:t>
            </a:r>
            <a:r>
              <a:rPr lang="en-US" sz="2000"/>
              <a:t>RAG Retriever</a:t>
            </a:r>
            <a:endParaRPr sz="2000"/>
          </a:p>
          <a:p>
            <a:r>
              <a:rPr lang="en-US" sz="2000"/>
              <a:t>Retrieves agricultural information from trusted sources.</a:t>
            </a:r>
            <a:endParaRPr sz="2000"/>
          </a:p>
          <a:p>
            <a:r>
              <a:rPr lang="en-US" sz="2000">
                <a:sym typeface="Arial"/>
              </a:rPr>
              <a:t>5</a:t>
            </a:r>
            <a:r>
              <a:rPr lang="en-US" sz="2000"/>
              <a:t>. Vector Database</a:t>
            </a:r>
          </a:p>
          <a:p>
            <a:r>
              <a:rPr lang="en-US" sz="2000" b="0" i="0" u="none" strike="noStrike" cap="none">
                <a:solidFill>
                  <a:srgbClr val="000000"/>
                </a:solidFill>
                <a:latin typeface="Arial"/>
                <a:ea typeface="Arial"/>
                <a:cs typeface="Arial"/>
                <a:sym typeface="Arial"/>
              </a:rPr>
              <a:t>Stores </a:t>
            </a:r>
            <a:r>
              <a:rPr lang="en-US" sz="2000"/>
              <a:t>farming documents </a:t>
            </a:r>
            <a:r>
              <a:rPr lang="en-US" sz="2000" b="0" i="0" u="none" strike="noStrike" cap="none">
                <a:solidFill>
                  <a:srgbClr val="000000"/>
                </a:solidFill>
                <a:latin typeface="Arial"/>
                <a:ea typeface="Arial"/>
                <a:cs typeface="Arial"/>
                <a:sym typeface="Arial"/>
              </a:rPr>
              <a:t>and </a:t>
            </a:r>
            <a:r>
              <a:rPr lang="en-US" sz="2000"/>
              <a:t>embeddings</a:t>
            </a:r>
            <a:r>
              <a:rPr lang="en-US" sz="2000" b="0" i="0" u="none" strike="noStrike" cap="none">
                <a:solidFill>
                  <a:srgbClr val="000000"/>
                </a:solidFill>
                <a:latin typeface="Arial"/>
                <a:ea typeface="Arial"/>
                <a:cs typeface="Arial"/>
                <a:sym typeface="Arial"/>
              </a:rPr>
              <a:t>.</a:t>
            </a:r>
            <a:endParaRPr sz="2000"/>
          </a:p>
          <a:p>
            <a:r>
              <a:rPr lang="en-US" sz="2000"/>
              <a:t>6. Chat Output</a:t>
            </a:r>
            <a:endParaRPr sz="2000"/>
          </a:p>
          <a:p>
            <a:r>
              <a:rPr lang="en-US" sz="2000"/>
              <a:t>Displays farming recommendations.</a:t>
            </a:r>
            <a:endParaRPr sz="2000"/>
          </a:p>
          <a:p>
            <a:r>
              <a:rPr lang="en-US" sz="2000"/>
              <a:t>7</a:t>
            </a:r>
            <a:r>
              <a:rPr lang="en-US" sz="2000">
                <a:sym typeface="Arial"/>
              </a:rPr>
              <a:t>.</a:t>
            </a:r>
            <a:r>
              <a:rPr lang="en-US" sz="2000"/>
              <a:t> API Components</a:t>
            </a:r>
          </a:p>
          <a:p>
            <a:pPr marL="285750" indent="-285750">
              <a:buChar char="•"/>
            </a:pPr>
            <a:r>
              <a:rPr lang="en-US" sz="2000"/>
              <a:t>Weather API </a:t>
            </a:r>
          </a:p>
          <a:p>
            <a:pPr marL="285750" indent="-285750">
              <a:buChar char="•"/>
            </a:pPr>
            <a:r>
              <a:rPr lang="en-US" sz="2000"/>
              <a:t>Market Price API </a:t>
            </a:r>
            <a:endParaRPr sz="2000"/>
          </a:p>
          <a:p>
            <a:pPr marL="285750" indent="-285750">
              <a:buChar char="•"/>
            </a:pPr>
            <a:r>
              <a:rPr lang="en-US" sz="2000"/>
              <a:t>Government Agriculture Data</a:t>
            </a:r>
            <a:endParaRPr sz="2000"/>
          </a:p>
          <a:p>
            <a:pPr marL="0" marR="0" lvl="0" indent="0" algn="l">
              <a:lnSpc>
                <a:spcPct val="100000"/>
              </a:lnSpc>
              <a:spcBef>
                <a:spcPts val="0"/>
              </a:spcBef>
              <a:spcAft>
                <a:spcPts val="0"/>
              </a:spcAft>
              <a:buNone/>
            </a:pPr>
            <a:endParaRPr lang="en-US" sz="2000" b="0" i="0" u="none" strike="noStrike" cap="none" dirty="0">
              <a:solidFill>
                <a:srgbClr val="000000"/>
              </a:solidFill>
              <a:latin typeface="Arial"/>
              <a:ea typeface="Arial"/>
              <a:cs typeface="Arial"/>
            </a:endParaRPr>
          </a:p>
          <a:p>
            <a:pPr marL="0" marR="0" lvl="0" indent="0" algn="l" rtl="0">
              <a:lnSpc>
                <a:spcPct val="100000"/>
              </a:lnSpc>
              <a:spcBef>
                <a:spcPts val="0"/>
              </a:spcBef>
              <a:spcAft>
                <a:spcPts val="0"/>
              </a:spcAft>
              <a:buNone/>
            </a:pPr>
            <a:endParaRPr sz="2000" b="0" i="0" u="none" strike="noStrike" cap="none" dirty="0">
              <a:solidFill>
                <a:srgbClr val="000000"/>
              </a:solidFill>
              <a:latin typeface="Arial"/>
              <a:ea typeface="Arial"/>
              <a:cs typeface="Arial"/>
            </a:endParaRPr>
          </a:p>
          <a:p>
            <a:pPr marL="0" marR="0" lvl="0" indent="0" algn="l" rtl="0">
              <a:lnSpc>
                <a:spcPct val="100000"/>
              </a:lnSpc>
              <a:spcBef>
                <a:spcPts val="0"/>
              </a:spcBef>
              <a:spcAft>
                <a:spcPts val="0"/>
              </a:spcAft>
              <a:buNone/>
            </a:pPr>
            <a:endParaRPr sz="2000" b="0" i="0" u="none" strike="noStrike" cap="none" dirty="0">
              <a:solidFill>
                <a:srgbClr val="000000"/>
              </a:solidFill>
              <a:latin typeface="Arial"/>
              <a:ea typeface="Arial"/>
              <a:cs typeface="Arial"/>
            </a:endParaRPr>
          </a:p>
          <a:p>
            <a:pPr marL="0" marR="0" lvl="0" indent="0" algn="l" rtl="0">
              <a:lnSpc>
                <a:spcPct val="100000"/>
              </a:lnSpc>
              <a:spcBef>
                <a:spcPts val="0"/>
              </a:spcBef>
              <a:spcAft>
                <a:spcPts val="0"/>
              </a:spcAft>
              <a:buNone/>
            </a:pPr>
            <a:endParaRPr sz="2000" b="0" i="0" u="none" strike="noStrike" cap="none" dirty="0">
              <a:solidFill>
                <a:srgbClr val="000000"/>
              </a:solidFill>
              <a:latin typeface="Arial"/>
              <a:ea typeface="Arial"/>
              <a:cs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workflow -</a:t>
            </a:r>
            <a:endParaRPr sz="2400" b="1" i="0" u="none" strike="noStrike" cap="none">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B73BB1C1-E7C8-0982-5B32-280A4477594D}"/>
              </a:ext>
            </a:extLst>
          </p:cNvPr>
          <p:cNvPicPr>
            <a:picLocks noChangeAspect="1"/>
          </p:cNvPicPr>
          <p:nvPr/>
        </p:nvPicPr>
        <p:blipFill>
          <a:blip r:embed="rId3"/>
          <a:stretch>
            <a:fillRect/>
          </a:stretch>
        </p:blipFill>
        <p:spPr>
          <a:xfrm>
            <a:off x="1039585" y="950685"/>
            <a:ext cx="9793514" cy="579845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sz="2400" b="0" i="0" u="none" strike="noStrike" cap="none">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DD6DADA8-AFAD-6F71-A06A-3BF4691132B2}"/>
              </a:ext>
            </a:extLst>
          </p:cNvPr>
          <p:cNvPicPr>
            <a:picLocks noChangeAspect="1"/>
          </p:cNvPicPr>
          <p:nvPr/>
        </p:nvPicPr>
        <p:blipFill>
          <a:blip r:embed="rId3"/>
          <a:stretch>
            <a:fillRect/>
          </a:stretch>
        </p:blipFill>
        <p:spPr>
          <a:xfrm>
            <a:off x="952500" y="645885"/>
            <a:ext cx="9459686" cy="60742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9" name="Google Shape;139;p9"/>
          <p:cNvSpPr txBox="1"/>
          <p:nvPr/>
        </p:nvSpPr>
        <p:spPr>
          <a:xfrm>
            <a:off x="621792" y="1167493"/>
            <a:ext cx="7406640" cy="3108543"/>
          </a:xfrm>
          <a:prstGeom prst="rect">
            <a:avLst/>
          </a:prstGeom>
          <a:noFill/>
          <a:ln>
            <a:noFill/>
          </a:ln>
        </p:spPr>
        <p:txBody>
          <a:bodyPr spcFirstLastPara="1" wrap="square" lIns="91425" tIns="45700" rIns="91425" bIns="45700" anchor="t" anchorCtr="0">
            <a:spAutoFit/>
          </a:bodyPr>
          <a:lstStyle/>
          <a:p>
            <a:pPr lvl="0" algn="l">
              <a:lnSpc>
                <a:spcPct val="100000"/>
              </a:lnSpc>
              <a:spcBef>
                <a:spcPts val="0"/>
              </a:spcBef>
              <a:spcAft>
                <a:spcPts val="0"/>
              </a:spcAft>
              <a:buNone/>
            </a:pPr>
            <a:r>
              <a:rPr lang="en-US" sz="1400" i="0" u="none" strike="noStrike" cap="none" dirty="0">
                <a:solidFill>
                  <a:srgbClr val="000000"/>
                </a:solidFill>
                <a:latin typeface="Arial"/>
                <a:ea typeface="Arial"/>
                <a:cs typeface="Arial"/>
                <a:sym typeface="Arial"/>
              </a:rPr>
              <a:t>Agentic AI</a:t>
            </a:r>
            <a:r>
              <a:rPr lang="en-US" sz="1400" b="0" i="0" u="none" strike="noStrike" cap="none" dirty="0">
                <a:solidFill>
                  <a:srgbClr val="000000"/>
                </a:solidFill>
                <a:latin typeface="Arial"/>
                <a:ea typeface="Arial"/>
                <a:cs typeface="Arial"/>
                <a:sym typeface="Arial"/>
              </a:rPr>
              <a:t> enables </a:t>
            </a:r>
            <a:r>
              <a:rPr lang="en-US" dirty="0" err="1"/>
              <a:t>KisanMitra</a:t>
            </a:r>
            <a:r>
              <a:rPr lang="en-US" dirty="0"/>
              <a:t> </a:t>
            </a:r>
            <a:r>
              <a:rPr lang="en-US" sz="1400" b="0" i="0" u="none" strike="noStrike" cap="none" dirty="0">
                <a:solidFill>
                  <a:srgbClr val="000000"/>
                </a:solidFill>
                <a:latin typeface="Arial"/>
                <a:ea typeface="Arial"/>
                <a:cs typeface="Arial"/>
                <a:sym typeface="Arial"/>
              </a:rPr>
              <a:t>to function as an intelligent autonomous </a:t>
            </a:r>
            <a:r>
              <a:rPr lang="en-US" dirty="0"/>
              <a:t>farming assistant</a:t>
            </a:r>
            <a:r>
              <a:rPr lang="en-US" sz="1400" i="0" u="none" strike="noStrike" cap="none" dirty="0">
                <a:solidFill>
                  <a:srgbClr val="000000"/>
                </a:solidFill>
                <a:latin typeface="Arial"/>
                <a:ea typeface="Arial"/>
                <a:cs typeface="Arial"/>
                <a:sym typeface="Arial"/>
              </a:rPr>
              <a:t>.</a:t>
            </a:r>
            <a:endParaRPr lang="en-US" dirty="0"/>
          </a:p>
          <a:p>
            <a:r>
              <a:rPr lang="en-US"/>
              <a:t>Multiple </a:t>
            </a:r>
            <a:r>
              <a:rPr lang="en-US" sz="1400" b="0" i="0" u="none" strike="noStrike" cap="none">
                <a:solidFill>
                  <a:srgbClr val="000000"/>
                </a:solidFill>
                <a:latin typeface="Arial"/>
                <a:ea typeface="Arial"/>
                <a:cs typeface="Arial"/>
                <a:sym typeface="Arial"/>
              </a:rPr>
              <a:t>specialized agents </a:t>
            </a:r>
            <a:r>
              <a:rPr lang="en-US"/>
              <a:t>collaborate </a:t>
            </a:r>
            <a:r>
              <a:rPr lang="en-US" sz="1400" b="0" i="0" u="none" strike="noStrike" cap="none">
                <a:solidFill>
                  <a:srgbClr val="000000"/>
                </a:solidFill>
                <a:latin typeface="Arial"/>
                <a:ea typeface="Arial"/>
                <a:cs typeface="Arial"/>
                <a:sym typeface="Arial"/>
              </a:rPr>
              <a:t>to </a:t>
            </a:r>
            <a:r>
              <a:rPr lang="en-US"/>
              <a:t>provide:</a:t>
            </a:r>
          </a:p>
          <a:p>
            <a:pPr marL="285750" indent="-285750">
              <a:buChar char="•"/>
            </a:pPr>
            <a:r>
              <a:rPr lang="en-US"/>
              <a:t>Crop recommendations </a:t>
            </a:r>
          </a:p>
          <a:p>
            <a:pPr marL="285750" indent="-285750">
              <a:buChar char="•"/>
            </a:pPr>
            <a:r>
              <a:rPr lang="en-US"/>
              <a:t>Weather forecasting </a:t>
            </a:r>
          </a:p>
          <a:p>
            <a:pPr marL="285750" indent="-285750">
              <a:buChar char="•"/>
            </a:pPr>
            <a:r>
              <a:rPr lang="en-US"/>
              <a:t>Fertilizer </a:t>
            </a:r>
            <a:r>
              <a:rPr lang="en-US" sz="1400" b="0" i="0" u="none" strike="noStrike" cap="none">
                <a:solidFill>
                  <a:srgbClr val="000000"/>
                </a:solidFill>
                <a:latin typeface="Arial"/>
                <a:ea typeface="Arial"/>
                <a:cs typeface="Arial"/>
                <a:sym typeface="Arial"/>
              </a:rPr>
              <a:t>guidance</a:t>
            </a:r>
            <a:r>
              <a:rPr lang="en-US"/>
              <a:t> </a:t>
            </a:r>
          </a:p>
          <a:p>
            <a:pPr marL="285750" indent="-285750">
              <a:buChar char="•"/>
            </a:pPr>
            <a:r>
              <a:rPr lang="en-US"/>
              <a:t>Pest management </a:t>
            </a:r>
            <a:endParaRPr/>
          </a:p>
          <a:p>
            <a:pPr marL="285750" indent="-285750">
              <a:buChar char="•"/>
            </a:pPr>
            <a:r>
              <a:rPr lang="en-US"/>
              <a:t>Market intelligence </a:t>
            </a:r>
            <a:endParaRPr/>
          </a:p>
          <a:p>
            <a:r>
              <a:rPr lang="en-US"/>
              <a:t>The agents continuously analyze farmer inputs</a:t>
            </a:r>
            <a:r>
              <a:rPr lang="en-US" sz="1400" b="0" i="0" u="none" strike="noStrike" cap="none">
                <a:solidFill>
                  <a:srgbClr val="000000"/>
                </a:solidFill>
                <a:latin typeface="Arial"/>
                <a:ea typeface="Arial"/>
                <a:cs typeface="Arial"/>
                <a:sym typeface="Arial"/>
              </a:rPr>
              <a:t>, </a:t>
            </a:r>
            <a:r>
              <a:rPr lang="en-US"/>
              <a:t>retrieve agricultural knowledge</a:t>
            </a:r>
            <a:r>
              <a:rPr lang="en-US" sz="1400" b="0" i="0" u="none" strike="noStrike" cap="none">
                <a:solidFill>
                  <a:srgbClr val="000000"/>
                </a:solidFill>
                <a:latin typeface="Arial"/>
                <a:ea typeface="Arial"/>
                <a:cs typeface="Arial"/>
                <a:sym typeface="Arial"/>
              </a:rPr>
              <a:t>, and generate </a:t>
            </a:r>
            <a:r>
              <a:rPr lang="en-US"/>
              <a:t>personalized </a:t>
            </a:r>
            <a:r>
              <a:rPr lang="en-US" sz="1400" b="0" i="0" u="none" strike="noStrike" cap="none">
                <a:solidFill>
                  <a:srgbClr val="000000"/>
                </a:solidFill>
                <a:latin typeface="Arial"/>
                <a:ea typeface="Arial"/>
                <a:cs typeface="Arial"/>
                <a:sym typeface="Arial"/>
              </a:rPr>
              <a:t>recommendations.</a:t>
            </a:r>
            <a:endParaRPr/>
          </a:p>
          <a:p>
            <a:r>
              <a:rPr lang="en-US"/>
              <a:t>IBM Granite provides reasoning </a:t>
            </a:r>
            <a:r>
              <a:rPr lang="en-US" sz="1400" b="0" i="0" u="none" strike="noStrike" cap="none">
                <a:solidFill>
                  <a:srgbClr val="000000"/>
                </a:solidFill>
                <a:latin typeface="Arial"/>
                <a:ea typeface="Arial"/>
                <a:cs typeface="Arial"/>
                <a:sym typeface="Arial"/>
              </a:rPr>
              <a:t>and </a:t>
            </a:r>
            <a:r>
              <a:rPr lang="en-US"/>
              <a:t>multilingual understanding, while IBM BOB accelerates full-stack application development</a:t>
            </a:r>
            <a:r>
              <a:rPr lang="en-US" sz="1400" b="0" i="0" u="none" strike="noStrike" cap="none">
                <a:solidFill>
                  <a:srgbClr val="000000"/>
                </a:solidFill>
                <a:latin typeface="Arial"/>
                <a:ea typeface="Arial"/>
                <a:cs typeface="Arial"/>
                <a:sym typeface="Arial"/>
              </a:rPr>
              <a:t>.</a:t>
            </a:r>
            <a:endParaRPr/>
          </a:p>
          <a:p>
            <a:r>
              <a:rPr lang="en-US" sz="1400" b="0" i="0" u="none" strike="noStrike" cap="none">
                <a:solidFill>
                  <a:srgbClr val="000000"/>
                </a:solidFill>
                <a:latin typeface="Arial"/>
                <a:ea typeface="Arial"/>
                <a:cs typeface="Arial"/>
                <a:sym typeface="Arial"/>
              </a:rPr>
              <a:t>Overall, Agentic AI makes the system proactive, </a:t>
            </a:r>
            <a:r>
              <a:rPr lang="en-US"/>
              <a:t>intelligent</a:t>
            </a:r>
            <a:r>
              <a:rPr lang="en-US" sz="1400" b="0" i="0" u="none" strike="noStrike" cap="none">
                <a:solidFill>
                  <a:srgbClr val="000000"/>
                </a:solidFill>
                <a:latin typeface="Arial"/>
                <a:ea typeface="Arial"/>
                <a:cs typeface="Arial"/>
                <a:sym typeface="Arial"/>
              </a:rPr>
              <a:t>, and goal-driven, </a:t>
            </a:r>
            <a:r>
              <a:rPr lang="en-US"/>
              <a:t>helping farmers improve productivity and reduce risks</a:t>
            </a:r>
            <a:r>
              <a:rPr lang="en-US" sz="1400" b="0" i="0" u="none" strike="noStrike" cap="none">
                <a:solidFill>
                  <a:srgbClr val="000000"/>
                </a:solidFill>
                <a:latin typeface="Arial"/>
                <a:ea typeface="Arial"/>
                <a:cs typeface="Arial"/>
                <a:sym typeface="Arial"/>
              </a:rPr>
              <a:t>.</a:t>
            </a:r>
            <a:endParaRPr lang="en-US"/>
          </a:p>
          <a:p>
            <a:pPr marL="0" marR="0" lvl="0" indent="0" algn="l">
              <a:lnSpc>
                <a:spcPct val="100000"/>
              </a:lnSpc>
              <a:spcBef>
                <a:spcPts val="0"/>
              </a:spcBef>
              <a:spcAft>
                <a:spcPts val="0"/>
              </a:spcAft>
              <a:buNone/>
            </a:pPr>
            <a:endParaRPr lang="en-US"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Token Usage </a:t>
            </a:r>
            <a:endParaRPr sz="2400" b="1" i="0" u="none" strike="noStrike" cap="none">
              <a:solidFill>
                <a:srgbClr val="000000"/>
              </a:solidFill>
              <a:latin typeface="Arial"/>
              <a:ea typeface="Arial"/>
              <a:cs typeface="Arial"/>
              <a:sym typeface="Arial"/>
            </a:endParaRPr>
          </a:p>
        </p:txBody>
      </p:sp>
      <p:sp>
        <p:nvSpPr>
          <p:cNvPr id="145" name="Google Shape;145;p39"/>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8" name="Google Shape;148;p39"/>
          <p:cNvSpPr txBox="1"/>
          <p:nvPr/>
        </p:nvSpPr>
        <p:spPr>
          <a:xfrm>
            <a:off x="897392" y="1042133"/>
            <a:ext cx="7927171" cy="707846"/>
          </a:xfrm>
          <a:prstGeom prst="rect">
            <a:avLst/>
          </a:prstGeom>
          <a:noFill/>
          <a:ln>
            <a:noFill/>
          </a:ln>
        </p:spPr>
        <p:txBody>
          <a:bodyPr spcFirstLastPara="1" wrap="square" lIns="91425" tIns="45700" rIns="91425" bIns="45700" anchor="t" anchorCtr="0">
            <a:spAutoFit/>
          </a:bodyPr>
          <a:lstStyle/>
          <a:p>
            <a:r>
              <a:rPr lang="en-US" sz="1200" b="1">
                <a:solidFill>
                  <a:srgbClr val="161616"/>
                </a:solidFill>
                <a:highlight>
                  <a:srgbClr val="FFFFFF"/>
                </a:highlight>
                <a:latin typeface="IBM Plex Sans"/>
              </a:rPr>
              <a:t>Cumulative total: 20.324/40 Units </a:t>
            </a:r>
            <a:r>
              <a:rPr lang="en-US" sz="1200" b="1" i="0" u="none" strike="noStrike" cap="none">
                <a:solidFill>
                  <a:srgbClr val="161616"/>
                </a:solidFill>
                <a:highlight>
                  <a:srgbClr val="FFFFFF"/>
                </a:highlight>
                <a:latin typeface="IBM Plex Sans"/>
                <a:sym typeface="Arial"/>
              </a:rPr>
              <a:t>used</a:t>
            </a:r>
            <a:r>
              <a:rPr lang="en-US" sz="1200" b="1">
                <a:solidFill>
                  <a:srgbClr val="161616"/>
                </a:solidFill>
                <a:highlight>
                  <a:srgbClr val="FFFFFF"/>
                </a:highlight>
                <a:latin typeface="IBM Plex Sans"/>
              </a:rPr>
              <a:t> </a:t>
            </a:r>
            <a:r>
              <a:rPr lang="en-US" sz="1200">
                <a:solidFill>
                  <a:srgbClr val="161616"/>
                </a:solidFill>
                <a:highlight>
                  <a:srgbClr val="FFFFFF"/>
                </a:highlight>
                <a:latin typeface="IBM Plex Sans"/>
              </a:rPr>
              <a:t>(51%)</a:t>
            </a:r>
            <a:endParaRPr lang="en-US"/>
          </a:p>
          <a:p>
            <a:br>
              <a:rPr lang="en-US" dirty="0"/>
            </a:br>
            <a:endParaRPr lang="en-US" dirty="0"/>
          </a:p>
        </p:txBody>
      </p:sp>
      <p:sp>
        <p:nvSpPr>
          <p:cNvPr id="152" name="Google Shape;152;p39"/>
          <p:cNvSpPr txBox="1"/>
          <p:nvPr/>
        </p:nvSpPr>
        <p:spPr>
          <a:xfrm>
            <a:off x="894714" y="1512462"/>
            <a:ext cx="274319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sng" strike="noStrike" cap="none">
                <a:solidFill>
                  <a:srgbClr val="000000"/>
                </a:solidFill>
                <a:latin typeface="Arial"/>
                <a:ea typeface="Arial"/>
                <a:cs typeface="Arial"/>
                <a:sym typeface="Arial"/>
              </a:rPr>
              <a:t>After the Prompt</a:t>
            </a:r>
            <a:endParaRPr/>
          </a:p>
        </p:txBody>
      </p:sp>
      <p:pic>
        <p:nvPicPr>
          <p:cNvPr id="2" name="Picture 1">
            <a:extLst>
              <a:ext uri="{FF2B5EF4-FFF2-40B4-BE49-F238E27FC236}">
                <a16:creationId xmlns:a16="http://schemas.microsoft.com/office/drawing/2014/main" id="{DA1B7594-8389-4D3F-F3D6-9700DD855A5C}"/>
              </a:ext>
            </a:extLst>
          </p:cNvPr>
          <p:cNvPicPr>
            <a:picLocks noChangeAspect="1"/>
          </p:cNvPicPr>
          <p:nvPr/>
        </p:nvPicPr>
        <p:blipFill>
          <a:blip r:embed="rId3"/>
          <a:stretch>
            <a:fillRect/>
          </a:stretch>
        </p:blipFill>
        <p:spPr>
          <a:xfrm>
            <a:off x="181428" y="1919486"/>
            <a:ext cx="9695545" cy="465914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158" name="Google Shape;158;p40"/>
          <p:cNvSpPr txBox="1"/>
          <p:nvPr/>
        </p:nvSpPr>
        <p:spPr>
          <a:xfrm>
            <a:off x="777240" y="1207008"/>
            <a:ext cx="11301984" cy="5724604"/>
          </a:xfrm>
          <a:prstGeom prst="rect">
            <a:avLst/>
          </a:prstGeom>
          <a:noFill/>
          <a:ln>
            <a:noFill/>
          </a:ln>
        </p:spPr>
        <p:txBody>
          <a:bodyPr spcFirstLastPara="1" wrap="square" lIns="91425" tIns="45700" rIns="91425" bIns="45700" anchor="t" anchorCtr="0">
            <a:spAutoFit/>
          </a:bodyPr>
          <a:lstStyle/>
          <a:p>
            <a:r>
              <a:rPr lang="en-US" sz="1800"/>
              <a:t>AI-Powered </a:t>
            </a:r>
            <a:r>
              <a:rPr lang="en-US" sz="1800">
                <a:sym typeface="Arial"/>
              </a:rPr>
              <a:t>Multi-Agent </a:t>
            </a:r>
            <a:r>
              <a:rPr lang="en-US" sz="1800"/>
              <a:t>System</a:t>
            </a:r>
          </a:p>
          <a:p>
            <a:r>
              <a:rPr lang="en-US" sz="2400"/>
              <a:t>Multiple </a:t>
            </a:r>
            <a:r>
              <a:rPr lang="en-US" sz="2400" b="0" i="0" u="none" strike="noStrike" cap="none">
                <a:solidFill>
                  <a:srgbClr val="000000"/>
                </a:solidFill>
                <a:latin typeface="Arial"/>
                <a:ea typeface="Arial"/>
                <a:cs typeface="Arial"/>
                <a:sym typeface="Arial"/>
              </a:rPr>
              <a:t>specialized </a:t>
            </a:r>
            <a:r>
              <a:rPr lang="en-US" sz="2400"/>
              <a:t>farming </a:t>
            </a:r>
            <a:r>
              <a:rPr lang="en-US" sz="2400" b="0" i="0" u="none" strike="noStrike" cap="none">
                <a:solidFill>
                  <a:srgbClr val="000000"/>
                </a:solidFill>
                <a:latin typeface="Arial"/>
                <a:ea typeface="Arial"/>
                <a:cs typeface="Arial"/>
                <a:sym typeface="Arial"/>
              </a:rPr>
              <a:t>agents collaborate.</a:t>
            </a:r>
            <a:endParaRPr sz="2400"/>
          </a:p>
          <a:p>
            <a:r>
              <a:rPr lang="en-US" sz="1800">
                <a:sym typeface="Arial"/>
              </a:rPr>
              <a:t>RAG-Based </a:t>
            </a:r>
            <a:r>
              <a:rPr lang="en-US" sz="1800"/>
              <a:t>Agricultural Knowledge</a:t>
            </a:r>
            <a:endParaRPr sz="1800"/>
          </a:p>
          <a:p>
            <a:r>
              <a:rPr lang="en-US" sz="2400"/>
              <a:t>Retrieves trusted information before generating responses</a:t>
            </a:r>
            <a:r>
              <a:rPr lang="en-US" sz="2400" b="0" i="0" u="none" strike="noStrike" cap="none">
                <a:solidFill>
                  <a:srgbClr val="000000"/>
                </a:solidFill>
                <a:latin typeface="Arial"/>
                <a:ea typeface="Arial"/>
                <a:cs typeface="Arial"/>
                <a:sym typeface="Arial"/>
              </a:rPr>
              <a:t>.</a:t>
            </a:r>
            <a:endParaRPr sz="2400"/>
          </a:p>
          <a:p>
            <a:r>
              <a:rPr lang="en-US" sz="1800">
                <a:sym typeface="Arial"/>
              </a:rPr>
              <a:t>Real-Time </a:t>
            </a:r>
            <a:r>
              <a:rPr lang="en-US" sz="1800"/>
              <a:t>Weather Integration</a:t>
            </a:r>
          </a:p>
          <a:p>
            <a:r>
              <a:rPr lang="en-US" sz="2400"/>
              <a:t>Provides weather-based farming </a:t>
            </a:r>
            <a:r>
              <a:rPr lang="en-US" sz="2400" b="0" i="0" u="none" strike="noStrike" cap="none">
                <a:solidFill>
                  <a:srgbClr val="000000"/>
                </a:solidFill>
                <a:latin typeface="Arial"/>
                <a:ea typeface="Arial"/>
                <a:cs typeface="Arial"/>
                <a:sym typeface="Arial"/>
              </a:rPr>
              <a:t>recommendations.</a:t>
            </a:r>
            <a:endParaRPr sz="2400"/>
          </a:p>
          <a:p>
            <a:r>
              <a:rPr lang="en-US" sz="1800"/>
              <a:t>Market Intelligence</a:t>
            </a:r>
          </a:p>
          <a:p>
            <a:r>
              <a:rPr lang="en-US" sz="2400"/>
              <a:t>Retrieves live mandi prices.</a:t>
            </a:r>
          </a:p>
          <a:p>
            <a:r>
              <a:rPr lang="en-US" sz="1800"/>
              <a:t>Multilingual Support</a:t>
            </a:r>
          </a:p>
          <a:p>
            <a:r>
              <a:rPr lang="en-US" sz="2400"/>
              <a:t>English</a:t>
            </a:r>
            <a:r>
              <a:rPr lang="en-US" sz="2400" b="0" i="0" u="none" strike="noStrike" cap="none">
                <a:solidFill>
                  <a:srgbClr val="000000"/>
                </a:solidFill>
                <a:latin typeface="Arial"/>
                <a:ea typeface="Arial"/>
                <a:cs typeface="Arial"/>
                <a:sym typeface="Arial"/>
              </a:rPr>
              <a:t>, </a:t>
            </a:r>
            <a:r>
              <a:rPr lang="en-US" sz="2400"/>
              <a:t>Hindi</a:t>
            </a:r>
            <a:r>
              <a:rPr lang="en-US" sz="2400" b="0" i="0" u="none" strike="noStrike" cap="none">
                <a:solidFill>
                  <a:srgbClr val="000000"/>
                </a:solidFill>
                <a:latin typeface="Arial"/>
                <a:ea typeface="Arial"/>
                <a:cs typeface="Arial"/>
                <a:sym typeface="Arial"/>
              </a:rPr>
              <a:t>, and </a:t>
            </a:r>
            <a:r>
              <a:rPr lang="en-US" sz="2400"/>
              <a:t>Marathi support</a:t>
            </a:r>
            <a:r>
              <a:rPr lang="en-US" sz="2400" b="0" i="0" u="none" strike="noStrike" cap="none">
                <a:solidFill>
                  <a:srgbClr val="000000"/>
                </a:solidFill>
                <a:latin typeface="Arial"/>
                <a:ea typeface="Arial"/>
                <a:cs typeface="Arial"/>
                <a:sym typeface="Arial"/>
              </a:rPr>
              <a:t>.</a:t>
            </a:r>
            <a:endParaRPr sz="2400"/>
          </a:p>
          <a:p>
            <a:r>
              <a:rPr lang="en-US" sz="1800"/>
              <a:t>AI-Generated Full-Stack Development</a:t>
            </a:r>
          </a:p>
          <a:p>
            <a:r>
              <a:rPr lang="en-US" sz="2400"/>
              <a:t>Entire application generated using IBM BOB</a:t>
            </a:r>
            <a:r>
              <a:rPr lang="en-US" sz="2400" b="0" i="0" u="none" strike="noStrike" cap="none">
                <a:solidFill>
                  <a:srgbClr val="000000"/>
                </a:solidFill>
                <a:latin typeface="Arial"/>
                <a:ea typeface="Arial"/>
                <a:cs typeface="Arial"/>
                <a:sym typeface="Arial"/>
              </a:rPr>
              <a:t>.</a:t>
            </a:r>
            <a:endParaRPr sz="2400"/>
          </a:p>
          <a:p>
            <a:r>
              <a:rPr lang="en-US" sz="1800"/>
              <a:t>Personalized Farming Guidance</a:t>
            </a:r>
          </a:p>
          <a:p>
            <a:r>
              <a:rPr lang="en-US" sz="2400"/>
              <a:t>Recommendations based </a:t>
            </a:r>
            <a:r>
              <a:rPr lang="en-US" sz="2400" b="0" i="0" u="none" strike="noStrike" cap="none">
                <a:solidFill>
                  <a:srgbClr val="000000"/>
                </a:solidFill>
                <a:latin typeface="Arial"/>
                <a:ea typeface="Arial"/>
                <a:cs typeface="Arial"/>
                <a:sym typeface="Arial"/>
              </a:rPr>
              <a:t>on </a:t>
            </a:r>
            <a:r>
              <a:rPr lang="en-US" sz="2400"/>
              <a:t>location, soil, season</a:t>
            </a:r>
            <a:r>
              <a:rPr lang="en-US" sz="2400" b="0" i="0" u="none" strike="noStrike" cap="none">
                <a:solidFill>
                  <a:srgbClr val="000000"/>
                </a:solidFill>
                <a:latin typeface="Arial"/>
                <a:ea typeface="Arial"/>
                <a:cs typeface="Arial"/>
                <a:sym typeface="Arial"/>
              </a:rPr>
              <a:t>, and </a:t>
            </a:r>
            <a:r>
              <a:rPr lang="en-US" sz="2400"/>
              <a:t>crop</a:t>
            </a:r>
            <a:r>
              <a:rPr lang="en-US" sz="2400" b="0" i="0" u="none" strike="noStrike" cap="none">
                <a:solidFill>
                  <a:srgbClr val="000000"/>
                </a:solidFill>
                <a:latin typeface="Arial"/>
                <a:ea typeface="Arial"/>
                <a:cs typeface="Arial"/>
                <a:sym typeface="Arial"/>
              </a:rPr>
              <a:t>.</a:t>
            </a:r>
            <a:endParaRPr sz="2400"/>
          </a:p>
          <a:p>
            <a:r>
              <a:rPr lang="en-US" sz="2400" b="0" i="0" u="none" strike="noStrike" cap="none" dirty="0">
                <a:solidFill>
                  <a:srgbClr val="000000"/>
                </a:solidFill>
                <a:latin typeface="Arial"/>
                <a:ea typeface="Arial"/>
                <a:cs typeface="Arial"/>
                <a:sym typeface="Arial"/>
              </a:rPr>
              <a:t>This makes </a:t>
            </a:r>
            <a:r>
              <a:rPr lang="en-US" sz="2400" dirty="0" err="1"/>
              <a:t>KisanMitra</a:t>
            </a:r>
            <a:r>
              <a:rPr lang="en-US" sz="2400" dirty="0"/>
              <a:t> an intelligent </a:t>
            </a:r>
            <a:r>
              <a:rPr lang="en-US" sz="2400" i="0" u="none" strike="noStrike" cap="none" dirty="0">
                <a:solidFill>
                  <a:srgbClr val="000000"/>
                </a:solidFill>
                <a:latin typeface="Arial"/>
                <a:ea typeface="Arial"/>
                <a:cs typeface="Arial"/>
                <a:sym typeface="Arial"/>
              </a:rPr>
              <a:t>digital </a:t>
            </a:r>
            <a:r>
              <a:rPr lang="en-US" sz="2400" dirty="0"/>
              <a:t>farming advisor rather than </a:t>
            </a:r>
            <a:r>
              <a:rPr lang="en-US" sz="2400" b="0" i="0" u="none" strike="noStrike" cap="none" dirty="0">
                <a:solidFill>
                  <a:srgbClr val="000000"/>
                </a:solidFill>
                <a:latin typeface="Arial"/>
                <a:ea typeface="Arial"/>
                <a:cs typeface="Arial"/>
                <a:sym typeface="Arial"/>
              </a:rPr>
              <a:t>a </a:t>
            </a:r>
            <a:r>
              <a:rPr lang="en-US" sz="2400" dirty="0"/>
              <a:t>simple chatbot</a:t>
            </a:r>
            <a:r>
              <a:rPr lang="en-US" sz="2400" b="0" i="0" u="none" strike="noStrike" cap="none" dirty="0">
                <a:solidFill>
                  <a:srgbClr val="000000"/>
                </a:solidFill>
                <a:latin typeface="Arial"/>
                <a:ea typeface="Arial"/>
                <a:cs typeface="Arial"/>
                <a:sym typeface="Arial"/>
              </a:rPr>
              <a:t>.</a:t>
            </a:r>
            <a:endParaRPr sz="2400"/>
          </a:p>
          <a:p>
            <a:pPr marL="0" marR="0" lvl="0" indent="0" algn="l">
              <a:lnSpc>
                <a:spcPct val="100000"/>
              </a:lnSpc>
              <a:spcBef>
                <a:spcPts val="0"/>
              </a:spcBef>
              <a:spcAft>
                <a:spcPts val="0"/>
              </a:spcAft>
              <a:buNone/>
            </a:pPr>
            <a:endParaRPr lang="en-US" sz="2400" b="0" i="0" u="none" strike="noStrike" cap="none" dirty="0">
              <a:solidFill>
                <a:srgbClr val="000000"/>
              </a:solidFill>
              <a:latin typeface="Arial"/>
              <a:ea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4" name="Google Shape;164;p41"/>
          <p:cNvSpPr/>
          <p:nvPr/>
        </p:nvSpPr>
        <p:spPr>
          <a:xfrm>
            <a:off x="1414666" y="1139198"/>
            <a:ext cx="9018638" cy="4291515"/>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dirty="0"/>
              <a:t>https://github.com/devyanig61-create/Krisan-Mitra-Smart-Farming-AI.git</a:t>
            </a:r>
          </a:p>
          <a:p>
            <a:pPr>
              <a:lnSpc>
                <a:spcPct val="162162"/>
              </a:lnSpc>
              <a:buSzPts val="1850"/>
            </a:pPr>
            <a:r>
              <a:rPr lang="en-US" sz="1850" dirty="0">
                <a:solidFill>
                  <a:srgbClr val="2B3541"/>
                </a:solidFill>
                <a:latin typeface="Times New Roman"/>
                <a:ea typeface="Times New Roman"/>
                <a:cs typeface="Times New Roman"/>
              </a:rPr>
              <a:t>Please test and Paste the working  </a:t>
            </a:r>
            <a:r>
              <a:rPr lang="en-US" sz="1850" dirty="0" err="1">
                <a:solidFill>
                  <a:srgbClr val="2B3541"/>
                </a:solidFill>
                <a:latin typeface="Times New Roman"/>
                <a:ea typeface="Times New Roman"/>
                <a:cs typeface="Times New Roman"/>
              </a:rPr>
              <a:t>Github</a:t>
            </a:r>
            <a:r>
              <a:rPr lang="en-US" sz="1850" dirty="0">
                <a:solidFill>
                  <a:srgbClr val="2B3541"/>
                </a:solidFill>
                <a:latin typeface="Times New Roman"/>
                <a:ea typeface="Times New Roman"/>
                <a:cs typeface="Times New Roman"/>
              </a:rPr>
              <a:t> URL –</a:t>
            </a:r>
            <a:endParaRPr lang="en-US">
              <a:ea typeface="Times New Roman"/>
            </a:endParaRPr>
          </a:p>
          <a:p>
            <a:pPr>
              <a:lnSpc>
                <a:spcPct val="162162"/>
              </a:lnSpc>
            </a:pPr>
            <a:r>
              <a:rPr lang="en-US" sz="1850" dirty="0">
                <a:solidFill>
                  <a:srgbClr val="2B3541"/>
                </a:solidFill>
                <a:ea typeface="Times New Roman"/>
                <a:hlinkClick r:id="rId3"/>
              </a:rPr>
              <a:t>https://github.com/devyanig61-create/Krisan-Mitra-Smart-Farming-AI.git</a:t>
            </a:r>
            <a:endParaRPr lang="en-US" dirty="0">
              <a:ea typeface="Times New Roman"/>
            </a:endParaRPr>
          </a:p>
          <a:p>
            <a:pPr>
              <a:lnSpc>
                <a:spcPct val="162162"/>
              </a:lnSpc>
              <a:buSzPts val="1850"/>
            </a:pPr>
            <a:endParaRPr lang="en-US" sz="1850" dirty="0">
              <a:solidFill>
                <a:srgbClr val="2B3541"/>
              </a:solidFill>
              <a:latin typeface="Times New Roman"/>
              <a:ea typeface="Times New Roman"/>
              <a:cs typeface="Times New Roman"/>
            </a:endParaRPr>
          </a:p>
          <a:p>
            <a:pPr>
              <a:lnSpc>
                <a:spcPct val="162162"/>
              </a:lnSpc>
            </a:pPr>
            <a:r>
              <a:rPr lang="en-US" sz="1850" b="1" dirty="0">
                <a:solidFill>
                  <a:srgbClr val="2B3541"/>
                </a:solidFill>
                <a:latin typeface="Times New Roman"/>
                <a:ea typeface="Times New Roman"/>
                <a:cs typeface="Times New Roman"/>
              </a:rPr>
              <a:t>Make sure you have Uploaded following three files into your </a:t>
            </a:r>
            <a:r>
              <a:rPr lang="en-US" sz="1850" b="1" dirty="0" err="1">
                <a:solidFill>
                  <a:srgbClr val="2B3541"/>
                </a:solidFill>
                <a:latin typeface="Times New Roman"/>
                <a:ea typeface="Times New Roman"/>
                <a:cs typeface="Times New Roman"/>
              </a:rPr>
              <a:t>github</a:t>
            </a:r>
            <a:r>
              <a:rPr lang="en-US" sz="1850" b="1" dirty="0">
                <a:solidFill>
                  <a:srgbClr val="2B3541"/>
                </a:solidFill>
                <a:latin typeface="Times New Roman"/>
                <a:ea typeface="Times New Roman"/>
                <a:cs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rPr>
              <a:t>1) </a:t>
            </a:r>
            <a:r>
              <a:rPr lang="en-US" sz="1850" dirty="0" err="1">
                <a:solidFill>
                  <a:srgbClr val="2B3541"/>
                </a:solidFill>
                <a:latin typeface="Times New Roman"/>
                <a:ea typeface="Times New Roman"/>
                <a:cs typeface="Times New Roman"/>
              </a:rPr>
              <a:t>app.json</a:t>
            </a:r>
            <a:r>
              <a:rPr lang="en-US" sz="1850" dirty="0">
                <a:solidFill>
                  <a:srgbClr val="2B3541"/>
                </a:solidFill>
                <a:latin typeface="Times New Roman"/>
                <a:ea typeface="Times New Roman"/>
                <a:cs typeface="Times New Roman"/>
              </a:rPr>
              <a:t> file , 2) yourproblemstatement.pdf file  3) your projectpresntation.pptx file 4)any other files </a:t>
            </a:r>
            <a:endParaRPr lang="en-US">
              <a:ea typeface="Times New Roman"/>
            </a:endParaRPr>
          </a:p>
          <a:p>
            <a:pPr>
              <a:lnSpc>
                <a:spcPct val="162162"/>
              </a:lnSpc>
              <a:buSzPts val="1850"/>
            </a:pPr>
            <a:endParaRPr lang="en-US" sz="1850" dirty="0">
              <a:latin typeface="Times New Roman"/>
              <a:ea typeface="Times New Roman"/>
              <a:cs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3" name="Google Shape;173;p42"/>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285750" indent="-285750">
              <a:buFont typeface="Arial"/>
              <a:buChar char="•"/>
            </a:pPr>
            <a:r>
              <a:rPr lang="en-US" sz="1850">
                <a:solidFill>
                  <a:srgbClr val="2B3541"/>
                </a:solidFill>
                <a:ea typeface="Times New Roman"/>
                <a:sym typeface="Times New Roman"/>
              </a:rPr>
              <a:t>IoT Sensor </a:t>
            </a:r>
            <a:r>
              <a:rPr lang="en-US" sz="1850" i="0" u="none" strike="noStrike" cap="none">
                <a:solidFill>
                  <a:srgbClr val="2B3541"/>
                </a:solidFill>
                <a:ea typeface="Times New Roman"/>
                <a:sym typeface="Times New Roman"/>
              </a:rPr>
              <a:t>Integration </a:t>
            </a:r>
            <a:r>
              <a:rPr lang="en-US" sz="1850">
                <a:solidFill>
                  <a:srgbClr val="2B3541"/>
                </a:solidFill>
                <a:ea typeface="Times New Roman"/>
                <a:sym typeface="Times New Roman"/>
              </a:rPr>
              <a:t>for </a:t>
            </a:r>
            <a:r>
              <a:rPr lang="en-US" sz="1850" b="0" i="0" u="none" strike="noStrike" cap="none">
                <a:solidFill>
                  <a:srgbClr val="2B3541"/>
                </a:solidFill>
                <a:ea typeface="Times New Roman"/>
                <a:sym typeface="Times New Roman"/>
              </a:rPr>
              <a:t>real-time </a:t>
            </a:r>
            <a:r>
              <a:rPr lang="en-US" sz="1850">
                <a:solidFill>
                  <a:srgbClr val="2B3541"/>
                </a:solidFill>
                <a:ea typeface="Times New Roman"/>
                <a:sym typeface="Times New Roman"/>
              </a:rPr>
              <a:t>soil monitoring. </a:t>
            </a:r>
            <a:endParaRPr lang="en-US">
              <a:sym typeface="Times New Roman"/>
            </a:endParaRPr>
          </a:p>
          <a:p>
            <a:pPr marL="285750" indent="-285750">
              <a:buFont typeface="Arial"/>
              <a:buChar char="•"/>
            </a:pPr>
            <a:r>
              <a:rPr lang="en-US" sz="1850">
                <a:solidFill>
                  <a:srgbClr val="2B3541"/>
                </a:solidFill>
                <a:ea typeface="Times New Roman"/>
                <a:sym typeface="Times New Roman"/>
              </a:rPr>
              <a:t>Drone-based crop disease detection</a:t>
            </a:r>
            <a:r>
              <a:rPr lang="en-US" sz="1850" b="0" i="0" u="none" strike="noStrike" cap="none">
                <a:solidFill>
                  <a:srgbClr val="2B3541"/>
                </a:solidFill>
                <a:ea typeface="Times New Roman"/>
                <a:sym typeface="Times New Roman"/>
              </a:rPr>
              <a:t>. </a:t>
            </a:r>
            <a:endParaRPr lang="en-US">
              <a:sym typeface="Times New Roman"/>
            </a:endParaRPr>
          </a:p>
          <a:p>
            <a:pPr marL="285750" indent="-285750">
              <a:buFont typeface="Arial"/>
              <a:buChar char="•"/>
            </a:pPr>
            <a:r>
              <a:rPr lang="en-US" sz="1850">
                <a:solidFill>
                  <a:srgbClr val="2B3541"/>
                </a:solidFill>
                <a:ea typeface="Times New Roman"/>
                <a:sym typeface="Times New Roman"/>
              </a:rPr>
              <a:t>Satellite image analysis for crop </a:t>
            </a:r>
            <a:r>
              <a:rPr lang="en-US" sz="1850" b="0" i="0" u="none" strike="noStrike" cap="none">
                <a:solidFill>
                  <a:srgbClr val="2B3541"/>
                </a:solidFill>
                <a:ea typeface="Times New Roman"/>
                <a:sym typeface="Times New Roman"/>
              </a:rPr>
              <a:t>health </a:t>
            </a:r>
            <a:r>
              <a:rPr lang="en-US" sz="1850">
                <a:solidFill>
                  <a:srgbClr val="2B3541"/>
                </a:solidFill>
                <a:ea typeface="Times New Roman"/>
                <a:sym typeface="Times New Roman"/>
              </a:rPr>
              <a:t>monitoring. </a:t>
            </a:r>
            <a:endParaRPr lang="en-US">
              <a:sym typeface="Times New Roman"/>
            </a:endParaRPr>
          </a:p>
          <a:p>
            <a:pPr marL="285750" indent="-285750">
              <a:buFont typeface="Arial"/>
              <a:buChar char="•"/>
            </a:pPr>
            <a:r>
              <a:rPr lang="en-US" sz="1850">
                <a:solidFill>
                  <a:srgbClr val="2B3541"/>
                </a:solidFill>
                <a:ea typeface="Times New Roman"/>
                <a:sym typeface="Times New Roman"/>
              </a:rPr>
              <a:t>Voice-based farming assistant in regional languages. </a:t>
            </a:r>
            <a:endParaRPr lang="en-US">
              <a:sym typeface="Times New Roman"/>
            </a:endParaRPr>
          </a:p>
          <a:p>
            <a:pPr marL="285750" indent="-285750">
              <a:buFont typeface="Arial"/>
              <a:buChar char="•"/>
            </a:pPr>
            <a:r>
              <a:rPr lang="en-US" sz="1850">
                <a:solidFill>
                  <a:srgbClr val="2B3541"/>
                </a:solidFill>
                <a:ea typeface="Times New Roman"/>
                <a:sym typeface="Times New Roman"/>
              </a:rPr>
              <a:t>AI-based yield prediction</a:t>
            </a:r>
            <a:r>
              <a:rPr lang="en-US" sz="1850" b="0" i="0" u="none" strike="noStrike" cap="none">
                <a:solidFill>
                  <a:srgbClr val="2B3541"/>
                </a:solidFill>
                <a:ea typeface="Times New Roman"/>
                <a:sym typeface="Times New Roman"/>
              </a:rPr>
              <a:t>.</a:t>
            </a:r>
            <a:r>
              <a:rPr lang="en-US" sz="1850">
                <a:solidFill>
                  <a:srgbClr val="2B3541"/>
                </a:solidFill>
                <a:ea typeface="Times New Roman"/>
                <a:sym typeface="Times New Roman"/>
              </a:rPr>
              <a:t> </a:t>
            </a:r>
            <a:endParaRPr/>
          </a:p>
          <a:p>
            <a:pPr marL="285750" indent="-285750">
              <a:buFont typeface="Arial"/>
              <a:buChar char="•"/>
            </a:pPr>
            <a:r>
              <a:rPr lang="en-US" sz="1850">
                <a:solidFill>
                  <a:srgbClr val="2B3541"/>
                </a:solidFill>
                <a:ea typeface="Times New Roman"/>
                <a:sym typeface="Times New Roman"/>
              </a:rPr>
              <a:t>Smart irrigation automation</a:t>
            </a:r>
            <a:r>
              <a:rPr lang="en-US" sz="1850" i="0" u="none" strike="noStrike" cap="none">
                <a:solidFill>
                  <a:srgbClr val="2B3541"/>
                </a:solidFill>
                <a:ea typeface="Times New Roman"/>
                <a:sym typeface="Times New Roman"/>
              </a:rPr>
              <a:t>.</a:t>
            </a:r>
            <a:r>
              <a:rPr lang="en-US" sz="1850" b="0" i="0" u="none" strike="noStrike" cap="none">
                <a:solidFill>
                  <a:srgbClr val="2B3541"/>
                </a:solidFill>
                <a:ea typeface="Times New Roman"/>
                <a:sym typeface="Times New Roman"/>
              </a:rPr>
              <a:t> </a:t>
            </a:r>
            <a:endParaRPr/>
          </a:p>
          <a:p>
            <a:pPr marL="285750" indent="-285750">
              <a:buFont typeface="Arial"/>
              <a:buChar char="•"/>
            </a:pPr>
            <a:r>
              <a:rPr lang="en-US" sz="1850">
                <a:solidFill>
                  <a:srgbClr val="2B3541"/>
                </a:solidFill>
                <a:ea typeface="Times New Roman"/>
                <a:sym typeface="Times New Roman"/>
              </a:rPr>
              <a:t>Government subsidy recommendation </a:t>
            </a:r>
            <a:r>
              <a:rPr lang="en-US" sz="1850" b="0" i="0" u="none" strike="noStrike" cap="none">
                <a:solidFill>
                  <a:srgbClr val="2B3541"/>
                </a:solidFill>
                <a:ea typeface="Times New Roman"/>
                <a:sym typeface="Times New Roman"/>
              </a:rPr>
              <a:t>system. </a:t>
            </a:r>
            <a:endParaRPr lang="en-US">
              <a:sym typeface="Times New Roman"/>
            </a:endParaRPr>
          </a:p>
          <a:p>
            <a:pPr marL="285750" indent="-285750">
              <a:buFont typeface="Arial"/>
              <a:buChar char="•"/>
            </a:pPr>
            <a:r>
              <a:rPr lang="en-US" sz="1850">
                <a:solidFill>
                  <a:srgbClr val="2B3541"/>
                </a:solidFill>
                <a:ea typeface="Times New Roman"/>
                <a:sym typeface="Times New Roman"/>
              </a:rPr>
              <a:t>Integration </a:t>
            </a:r>
            <a:r>
              <a:rPr lang="en-US" sz="1850" b="0" i="0" u="none" strike="noStrike" cap="none">
                <a:solidFill>
                  <a:srgbClr val="2B3541"/>
                </a:solidFill>
                <a:ea typeface="Times New Roman"/>
                <a:sym typeface="Times New Roman"/>
              </a:rPr>
              <a:t>with </a:t>
            </a:r>
            <a:r>
              <a:rPr lang="en-US" sz="1850">
                <a:solidFill>
                  <a:srgbClr val="2B3541"/>
                </a:solidFill>
                <a:ea typeface="Times New Roman"/>
                <a:sym typeface="Times New Roman"/>
              </a:rPr>
              <a:t>precision agriculture technologies</a:t>
            </a:r>
            <a:r>
              <a:rPr lang="en-US" sz="1850" b="0" i="0" u="none" strike="noStrike" cap="none">
                <a:solidFill>
                  <a:srgbClr val="2B3541"/>
                </a:solidFill>
                <a:ea typeface="Times New Roman"/>
                <a:sym typeface="Times New Roman"/>
              </a:rPr>
              <a:t>.</a:t>
            </a:r>
            <a:endParaRPr lang="en-US">
              <a:sym typeface="Times New Roman"/>
            </a:endParaRPr>
          </a:p>
          <a:p>
            <a:pPr marL="0" marR="0" lvl="0" indent="0" algn="l">
              <a:lnSpc>
                <a:spcPct val="162162"/>
              </a:lnSpc>
              <a:spcBef>
                <a:spcPts val="0"/>
              </a:spcBef>
              <a:spcAft>
                <a:spcPts val="0"/>
              </a:spcAft>
              <a:buSzPts val="1850"/>
              <a:buFont typeface="Times New Roman"/>
              <a:buNone/>
            </a:pPr>
            <a:endParaRPr lang="en-US" sz="1850" b="1" i="0" u="none" strike="noStrike" cap="none" dirty="0">
              <a:solidFill>
                <a:srgbClr val="2B3541"/>
              </a:solidFill>
              <a:latin typeface="Times New Roman"/>
              <a:ea typeface="Times New Roman"/>
              <a:cs typeface="Times New Roman"/>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8AA69337-3B20-FFFC-B80F-2B2A00BD11E8}"/>
              </a:ext>
            </a:extLst>
          </p:cNvPr>
          <p:cNvPicPr>
            <a:picLocks noChangeAspect="1"/>
          </p:cNvPicPr>
          <p:nvPr/>
        </p:nvPicPr>
        <p:blipFill>
          <a:blip r:embed="rId3"/>
          <a:stretch>
            <a:fillRect/>
          </a:stretch>
        </p:blipFill>
        <p:spPr>
          <a:xfrm>
            <a:off x="1639198" y="711200"/>
            <a:ext cx="8913605" cy="576942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F552515E-1BE2-35B6-76D9-1D77617F76D9}"/>
              </a:ext>
            </a:extLst>
          </p:cNvPr>
          <p:cNvPicPr>
            <a:picLocks noChangeAspect="1"/>
          </p:cNvPicPr>
          <p:nvPr/>
        </p:nvPicPr>
        <p:blipFill>
          <a:blip r:embed="rId3"/>
          <a:stretch>
            <a:fillRect/>
          </a:stretch>
        </p:blipFill>
        <p:spPr>
          <a:xfrm>
            <a:off x="1719263" y="685800"/>
            <a:ext cx="8753475" cy="54864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16</Slides>
  <Notes>16</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revision>121</cp:revision>
  <dcterms:created xsi:type="dcterms:W3CDTF">2025-07-08T05:06:56Z</dcterms:created>
  <dcterms:modified xsi:type="dcterms:W3CDTF">2026-07-09T16:58:11Z</dcterms:modified>
</cp:coreProperties>
</file>